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sp>
      <p:sp>
        <p:nvSpPr>
          <p:cNvPr id="3" name="Shape 1"/>
          <p:cNvSpPr/>
          <p:nvPr/>
        </p:nvSpPr>
        <p:spPr>
          <a:xfrm>
            <a:off x="0" y="5806440"/>
            <a:ext cx="12188952" cy="1051560"/>
          </a:xfrm>
          <a:prstGeom prst="rect">
            <a:avLst/>
          </a:prstGeom>
          <a:solidFill>
            <a:srgbClr val="16223C"/>
          </a:solidFill>
          <a:ln/>
        </p:spPr>
      </p:sp>
      <p:sp>
        <p:nvSpPr>
          <p:cNvPr id="4" name="Text 2"/>
          <p:cNvSpPr/>
          <p:nvPr/>
        </p:nvSpPr>
        <p:spPr>
          <a:xfrm>
            <a:off x="822960" y="1051560"/>
            <a:ext cx="7315200" cy="365760"/>
          </a:xfrm>
          <a:prstGeom prst="rect">
            <a:avLst/>
          </a:prstGeom>
          <a:noFill/>
          <a:ln/>
        </p:spPr>
        <p:txBody>
          <a:bodyPr wrap="square" lIns="0" tIns="0" rIns="0" bIns="0" rtlCol="0" anchor="ctr"/>
          <a:lstStyle/>
          <a:p>
            <a:pPr indent="0" marL="0">
              <a:buNone/>
            </a:pPr>
            <a:r>
              <a:rPr lang="en-US" sz="1300" b="1" spc="300" kern="0" dirty="0">
                <a:solidFill>
                  <a:srgbClr val="E63946"/>
                </a:solidFill>
                <a:latin typeface="Calibri" pitchFamily="34" charset="0"/>
                <a:ea typeface="Calibri" pitchFamily="34" charset="-122"/>
                <a:cs typeface="Calibri" pitchFamily="34" charset="-120"/>
              </a:rPr>
              <a:t>CASO DE ESTUDIO 5</a:t>
            </a:r>
            <a:endParaRPr lang="en-US" sz="1300" dirty="0"/>
          </a:p>
        </p:txBody>
      </p:sp>
      <p:sp>
        <p:nvSpPr>
          <p:cNvPr id="5" name="Text 3"/>
          <p:cNvSpPr/>
          <p:nvPr/>
        </p:nvSpPr>
        <p:spPr>
          <a:xfrm>
            <a:off x="777240" y="1417320"/>
            <a:ext cx="1051560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Auditoría Ética y Forense</a:t>
            </a:r>
            <a:endParaRPr lang="en-US" sz="4400" dirty="0"/>
          </a:p>
        </p:txBody>
      </p:sp>
      <p:sp>
        <p:nvSpPr>
          <p:cNvPr id="6" name="Text 4"/>
          <p:cNvSpPr/>
          <p:nvPr/>
        </p:nvSpPr>
        <p:spPr>
          <a:xfrm>
            <a:off x="822960" y="2331720"/>
            <a:ext cx="9601200" cy="548640"/>
          </a:xfrm>
          <a:prstGeom prst="rect">
            <a:avLst/>
          </a:prstGeom>
          <a:noFill/>
          <a:ln/>
        </p:spPr>
        <p:txBody>
          <a:bodyPr wrap="square" lIns="0" tIns="0" rIns="0" bIns="0" rtlCol="0" anchor="ctr"/>
          <a:lstStyle/>
          <a:p>
            <a:pPr indent="0" marL="0">
              <a:buNone/>
            </a:pPr>
            <a:r>
              <a:rPr lang="en-US" sz="1800" i="1" dirty="0">
                <a:solidFill>
                  <a:srgbClr val="E8EEF7"/>
                </a:solidFill>
                <a:latin typeface="Calibri" pitchFamily="34" charset="0"/>
                <a:ea typeface="Calibri" pitchFamily="34" charset="-122"/>
                <a:cs typeface="Calibri" pitchFamily="34" charset="-120"/>
              </a:rPr>
              <a:t>Plagio algorítmico y reutilización no autorizada de código abierto</a:t>
            </a:r>
            <a:endParaRPr lang="en-US" sz="1800" dirty="0"/>
          </a:p>
        </p:txBody>
      </p:sp>
      <p:sp>
        <p:nvSpPr>
          <p:cNvPr id="7" name="Shape 5"/>
          <p:cNvSpPr/>
          <p:nvPr/>
        </p:nvSpPr>
        <p:spPr>
          <a:xfrm>
            <a:off x="822960" y="3063240"/>
            <a:ext cx="2011680" cy="0"/>
          </a:xfrm>
          <a:prstGeom prst="line">
            <a:avLst/>
          </a:prstGeom>
          <a:noFill/>
          <a:ln w="31750">
            <a:solidFill>
              <a:srgbClr val="E63946"/>
            </a:solidFill>
            <a:prstDash val="solid"/>
          </a:ln>
        </p:spPr>
      </p:sp>
      <p:sp>
        <p:nvSpPr>
          <p:cNvPr id="8" name="Text 6"/>
          <p:cNvSpPr/>
          <p:nvPr/>
        </p:nvSpPr>
        <p:spPr>
          <a:xfrm>
            <a:off x="822960" y="3246120"/>
            <a:ext cx="7315200" cy="36576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GitHub Copilot / OpenAI Codex</a:t>
            </a:r>
            <a:endParaRPr lang="en-US" sz="1400" dirty="0"/>
          </a:p>
        </p:txBody>
      </p:sp>
      <p:sp>
        <p:nvSpPr>
          <p:cNvPr id="9" name="Shape 7"/>
          <p:cNvSpPr/>
          <p:nvPr/>
        </p:nvSpPr>
        <p:spPr>
          <a:xfrm>
            <a:off x="822960" y="3794760"/>
            <a:ext cx="1348740" cy="384048"/>
          </a:xfrm>
          <a:prstGeom prst="roundRect">
            <a:avLst>
              <a:gd name="adj" fmla="val 19048"/>
            </a:avLst>
          </a:prstGeom>
          <a:solidFill>
            <a:srgbClr val="273A63"/>
          </a:solidFill>
          <a:ln/>
        </p:spPr>
      </p:sp>
      <p:sp>
        <p:nvSpPr>
          <p:cNvPr id="10" name="Text 8"/>
          <p:cNvSpPr/>
          <p:nvPr/>
        </p:nvSpPr>
        <p:spPr>
          <a:xfrm>
            <a:off x="822960" y="3794760"/>
            <a:ext cx="1348740" cy="384048"/>
          </a:xfrm>
          <a:prstGeom prst="rect">
            <a:avLst/>
          </a:prstGeom>
          <a:noFill/>
          <a:ln/>
        </p:spPr>
        <p:txBody>
          <a:bodyPr wrap="square" lIns="0" tIns="0" rIns="0" bIns="0" rtlCol="0" anchor="ctr"/>
          <a:lstStyle/>
          <a:p>
            <a:pPr algn="ctr" indent="0" marL="0">
              <a:buNone/>
            </a:pPr>
            <a:r>
              <a:rPr lang="en-US" sz="1100" dirty="0">
                <a:solidFill>
                  <a:srgbClr val="E8EEF7"/>
                </a:solidFill>
                <a:latin typeface="Calibri" pitchFamily="34" charset="0"/>
                <a:ea typeface="Calibri" pitchFamily="34" charset="-122"/>
                <a:cs typeface="Calibri" pitchFamily="34" charset="-120"/>
              </a:rPr>
              <a:t>Ética en TI</a:t>
            </a:r>
            <a:endParaRPr lang="en-US" sz="1100" dirty="0"/>
          </a:p>
        </p:txBody>
      </p:sp>
      <p:sp>
        <p:nvSpPr>
          <p:cNvPr id="11" name="Shape 9"/>
          <p:cNvSpPr/>
          <p:nvPr/>
        </p:nvSpPr>
        <p:spPr>
          <a:xfrm>
            <a:off x="2354580" y="3794760"/>
            <a:ext cx="2404872" cy="384048"/>
          </a:xfrm>
          <a:prstGeom prst="roundRect">
            <a:avLst>
              <a:gd name="adj" fmla="val 19048"/>
            </a:avLst>
          </a:prstGeom>
          <a:solidFill>
            <a:srgbClr val="273A63"/>
          </a:solidFill>
          <a:ln/>
        </p:spPr>
      </p:sp>
      <p:sp>
        <p:nvSpPr>
          <p:cNvPr id="12" name="Text 10"/>
          <p:cNvSpPr/>
          <p:nvPr/>
        </p:nvSpPr>
        <p:spPr>
          <a:xfrm>
            <a:off x="2354580" y="3794760"/>
            <a:ext cx="2404872" cy="384048"/>
          </a:xfrm>
          <a:prstGeom prst="rect">
            <a:avLst/>
          </a:prstGeom>
          <a:noFill/>
          <a:ln/>
        </p:spPr>
        <p:txBody>
          <a:bodyPr wrap="square" lIns="0" tIns="0" rIns="0" bIns="0" rtlCol="0" anchor="ctr"/>
          <a:lstStyle/>
          <a:p>
            <a:pPr algn="ctr" indent="0" marL="0">
              <a:buNone/>
            </a:pPr>
            <a:r>
              <a:rPr lang="en-US" sz="1100" dirty="0">
                <a:solidFill>
                  <a:srgbClr val="E8EEF7"/>
                </a:solidFill>
                <a:latin typeface="Calibri" pitchFamily="34" charset="0"/>
                <a:ea typeface="Calibri" pitchFamily="34" charset="-122"/>
                <a:cs typeface="Calibri" pitchFamily="34" charset="-120"/>
              </a:rPr>
              <a:t>Computación Científica</a:t>
            </a:r>
            <a:endParaRPr lang="en-US" sz="1100" dirty="0"/>
          </a:p>
        </p:txBody>
      </p:sp>
      <p:sp>
        <p:nvSpPr>
          <p:cNvPr id="13" name="Shape 11"/>
          <p:cNvSpPr/>
          <p:nvPr/>
        </p:nvSpPr>
        <p:spPr>
          <a:xfrm>
            <a:off x="4942332" y="3794760"/>
            <a:ext cx="2308860" cy="384048"/>
          </a:xfrm>
          <a:prstGeom prst="roundRect">
            <a:avLst>
              <a:gd name="adj" fmla="val 19048"/>
            </a:avLst>
          </a:prstGeom>
          <a:solidFill>
            <a:srgbClr val="273A63"/>
          </a:solidFill>
          <a:ln/>
        </p:spPr>
      </p:sp>
      <p:sp>
        <p:nvSpPr>
          <p:cNvPr id="14" name="Text 12"/>
          <p:cNvSpPr/>
          <p:nvPr/>
        </p:nvSpPr>
        <p:spPr>
          <a:xfrm>
            <a:off x="4942332" y="3794760"/>
            <a:ext cx="2308860" cy="384048"/>
          </a:xfrm>
          <a:prstGeom prst="rect">
            <a:avLst/>
          </a:prstGeom>
          <a:noFill/>
          <a:ln/>
        </p:spPr>
        <p:txBody>
          <a:bodyPr wrap="square" lIns="0" tIns="0" rIns="0" bIns="0" rtlCol="0" anchor="ctr"/>
          <a:lstStyle/>
          <a:p>
            <a:pPr algn="ctr" indent="0" marL="0">
              <a:buNone/>
            </a:pPr>
            <a:r>
              <a:rPr lang="en-US" sz="1100" dirty="0">
                <a:solidFill>
                  <a:srgbClr val="E8EEF7"/>
                </a:solidFill>
                <a:latin typeface="Calibri" pitchFamily="34" charset="0"/>
                <a:ea typeface="Calibri" pitchFamily="34" charset="-122"/>
                <a:cs typeface="Calibri" pitchFamily="34" charset="-120"/>
              </a:rPr>
              <a:t>Licencias Open Source</a:t>
            </a:r>
            <a:endParaRPr lang="en-US" sz="1100" dirty="0"/>
          </a:p>
        </p:txBody>
      </p:sp>
      <p:pic>
        <p:nvPicPr>
          <p:cNvPr id="15" name="Image 0" descr="/home/claude/pptx_work/icon_code_accent.png">    </p:cNvPr>
          <p:cNvPicPr>
            <a:picLocks noChangeAspect="1"/>
          </p:cNvPicPr>
          <p:nvPr/>
        </p:nvPicPr>
        <p:blipFill>
          <a:blip r:embed="rId1"/>
          <a:stretch>
            <a:fillRect/>
          </a:stretch>
        </p:blipFill>
        <p:spPr>
          <a:xfrm>
            <a:off x="10332720" y="4709160"/>
            <a:ext cx="1371600" cy="1371600"/>
          </a:xfrm>
          <a:prstGeom prst="rect">
            <a:avLst/>
          </a:prstGeom>
        </p:spPr>
      </p:pic>
      <p:sp>
        <p:nvSpPr>
          <p:cNvPr id="16" name="Text 13"/>
          <p:cNvSpPr/>
          <p:nvPr/>
        </p:nvSpPr>
        <p:spPr>
          <a:xfrm>
            <a:off x="822960" y="6080760"/>
            <a:ext cx="9601200" cy="365760"/>
          </a:xfrm>
          <a:prstGeom prst="rect">
            <a:avLst/>
          </a:prstGeom>
          <a:noFill/>
          <a:ln/>
        </p:spPr>
        <p:txBody>
          <a:bodyPr wrap="square" lIns="0" tIns="0" rIns="0" bIns="0" rtlCol="0" anchor="ctr"/>
          <a:lstStyle/>
          <a:p>
            <a:pPr indent="0" marL="0">
              <a:buNone/>
            </a:pPr>
            <a:r>
              <a:rPr lang="en-US" sz="1100" dirty="0">
                <a:solidFill>
                  <a:srgbClr val="8A99B3"/>
                </a:solidFill>
                <a:latin typeface="Calibri" pitchFamily="34" charset="0"/>
                <a:ea typeface="Calibri" pitchFamily="34" charset="-122"/>
                <a:cs typeface="Calibri" pitchFamily="34" charset="-120"/>
              </a:rPr>
              <a:t>Materia: Ética en Tecnologías de la Información  ·  Integrantes: [Nombres del equipo]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8A99B3"/>
                </a:solidFill>
                <a:latin typeface="Calibri" pitchFamily="34" charset="0"/>
                <a:ea typeface="Calibri" pitchFamily="34" charset="-122"/>
                <a:cs typeface="Calibri" pitchFamily="34" charset="-120"/>
              </a:rPr>
              <a:t>02</a:t>
            </a:r>
            <a:endParaRPr lang="en-US" sz="1000" dirty="0"/>
          </a:p>
        </p:txBody>
      </p:sp>
      <p:sp>
        <p:nvSpPr>
          <p:cNvPr id="3" name="Text 1"/>
          <p:cNvSpPr/>
          <p:nvPr/>
        </p:nvSpPr>
        <p:spPr>
          <a:xfrm>
            <a:off x="548640" y="411480"/>
            <a:ext cx="914400" cy="457200"/>
          </a:xfrm>
          <a:prstGeom prst="rect">
            <a:avLst/>
          </a:prstGeom>
          <a:noFill/>
          <a:ln/>
        </p:spPr>
        <p:txBody>
          <a:bodyPr wrap="square" lIns="0" tIns="0" rIns="0" bIns="0" rtlCol="0" anchor="ctr"/>
          <a:lstStyle/>
          <a:p>
            <a:pPr indent="0" marL="0">
              <a:buNone/>
            </a:pPr>
            <a:r>
              <a:rPr lang="en-US" sz="2000" b="1" dirty="0">
                <a:solidFill>
                  <a:srgbClr val="E63946"/>
                </a:solidFill>
                <a:latin typeface="Cambria" pitchFamily="34" charset="0"/>
                <a:ea typeface="Cambria" pitchFamily="34" charset="-122"/>
                <a:cs typeface="Cambria" pitchFamily="34" charset="-120"/>
              </a:rPr>
              <a:t>01</a:t>
            </a:r>
            <a:endParaRPr lang="en-US" sz="2000" dirty="0"/>
          </a:p>
        </p:txBody>
      </p:sp>
      <p:sp>
        <p:nvSpPr>
          <p:cNvPr id="4" name="Text 2"/>
          <p:cNvSpPr/>
          <p:nvPr/>
        </p:nvSpPr>
        <p:spPr>
          <a:xfrm>
            <a:off x="548640" y="777240"/>
            <a:ext cx="8229600" cy="64008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Contexto Técnico</a:t>
            </a:r>
            <a:endParaRPr lang="en-US" sz="3200" dirty="0"/>
          </a:p>
        </p:txBody>
      </p:sp>
      <p:sp>
        <p:nvSpPr>
          <p:cNvPr id="5" name="Text 3"/>
          <p:cNvSpPr/>
          <p:nvPr/>
        </p:nvSpPr>
        <p:spPr>
          <a:xfrm>
            <a:off x="548640" y="1417320"/>
            <a:ext cx="10607040" cy="457200"/>
          </a:xfrm>
          <a:prstGeom prst="rect">
            <a:avLst/>
          </a:prstGeom>
          <a:noFill/>
          <a:ln/>
        </p:spPr>
        <p:txBody>
          <a:bodyPr wrap="square" lIns="0" tIns="0" rIns="0" bIns="0" rtlCol="0" anchor="ctr"/>
          <a:lstStyle/>
          <a:p>
            <a:pPr indent="0" marL="0">
              <a:buNone/>
            </a:pPr>
            <a:r>
              <a:rPr lang="en-US" sz="1300" dirty="0">
                <a:solidFill>
                  <a:srgbClr val="5B6B84"/>
                </a:solidFill>
                <a:latin typeface="Calibri" pitchFamily="34" charset="0"/>
                <a:ea typeface="Calibri" pitchFamily="34" charset="-122"/>
                <a:cs typeface="Calibri" pitchFamily="34" charset="-120"/>
              </a:rPr>
              <a:t>El objeto de auditoría: GitHub Copilot, sobre modelos de lenguaje autoregresivos de gran escala (LLMs) como OpenAI Codex.</a:t>
            </a:r>
            <a:endParaRPr lang="en-US" sz="1300" dirty="0"/>
          </a:p>
        </p:txBody>
      </p:sp>
      <p:sp>
        <p:nvSpPr>
          <p:cNvPr id="6" name="Shape 4"/>
          <p:cNvSpPr/>
          <p:nvPr/>
        </p:nvSpPr>
        <p:spPr>
          <a:xfrm>
            <a:off x="548640" y="2148840"/>
            <a:ext cx="5120640" cy="4160520"/>
          </a:xfrm>
          <a:prstGeom prst="roundRect">
            <a:avLst>
              <a:gd name="adj" fmla="val 1758"/>
            </a:avLst>
          </a:prstGeom>
          <a:solidFill>
            <a:srgbClr val="F7F9FC"/>
          </a:solidFill>
          <a:ln w="12700">
            <a:solidFill>
              <a:srgbClr val="DDE4EE"/>
            </a:solidFill>
            <a:prstDash val="solid"/>
          </a:ln>
        </p:spPr>
      </p:sp>
      <p:sp>
        <p:nvSpPr>
          <p:cNvPr id="7" name="Shape 5"/>
          <p:cNvSpPr/>
          <p:nvPr/>
        </p:nvSpPr>
        <p:spPr>
          <a:xfrm>
            <a:off x="868680" y="2468880"/>
            <a:ext cx="640080" cy="640080"/>
          </a:xfrm>
          <a:prstGeom prst="ellipse">
            <a:avLst/>
          </a:prstGeom>
          <a:solidFill>
            <a:srgbClr val="1B2A4A"/>
          </a:solidFill>
          <a:ln/>
        </p:spPr>
      </p:sp>
      <p:pic>
        <p:nvPicPr>
          <p:cNvPr id="8" name="Image 0" descr="/home/claude/pptx_work/icon_database_white.png">    </p:cNvPr>
          <p:cNvPicPr>
            <a:picLocks noChangeAspect="1"/>
          </p:cNvPicPr>
          <p:nvPr/>
        </p:nvPicPr>
        <p:blipFill>
          <a:blip r:embed="rId1"/>
          <a:stretch>
            <a:fillRect/>
          </a:stretch>
        </p:blipFill>
        <p:spPr>
          <a:xfrm>
            <a:off x="1047902" y="2648102"/>
            <a:ext cx="281635" cy="281635"/>
          </a:xfrm>
          <a:prstGeom prst="rect">
            <a:avLst/>
          </a:prstGeom>
        </p:spPr>
      </p:pic>
      <p:sp>
        <p:nvSpPr>
          <p:cNvPr id="9" name="Text 6"/>
          <p:cNvSpPr/>
          <p:nvPr/>
        </p:nvSpPr>
        <p:spPr>
          <a:xfrm>
            <a:off x="1691640" y="2532888"/>
            <a:ext cx="3749040" cy="45720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Dataset de Entrenamiento</a:t>
            </a:r>
            <a:endParaRPr lang="en-US" sz="1700" dirty="0"/>
          </a:p>
        </p:txBody>
      </p:sp>
      <p:sp>
        <p:nvSpPr>
          <p:cNvPr id="10" name="Text 7"/>
          <p:cNvSpPr/>
          <p:nvPr/>
        </p:nvSpPr>
        <p:spPr>
          <a:xfrm>
            <a:off x="868680" y="3200400"/>
            <a:ext cx="4480560" cy="2880360"/>
          </a:xfrm>
          <a:prstGeom prst="rect">
            <a:avLst/>
          </a:prstGeom>
          <a:noFill/>
          <a:ln/>
        </p:spPr>
        <p:txBody>
          <a:bodyPr wrap="square" lIns="0" tIns="0" rIns="0" bIns="0" rtlCol="0" anchor="ctr"/>
          <a:lstStyle/>
          <a:p>
            <a:pPr marL="342900" indent="-342900">
              <a:lnSpc>
                <a:spcPts val="2000"/>
              </a:lnSpc>
              <a:spcAft>
                <a:spcPts val="1200"/>
              </a:spcAft>
              <a:buSzPct val="100000"/>
              <a:buChar char="•"/>
            </a:pPr>
            <a:r>
              <a:rPr lang="en-US" sz="1350" dirty="0">
                <a:solidFill>
                  <a:srgbClr val="1B2A4A"/>
                </a:solidFill>
                <a:latin typeface="Calibri" pitchFamily="34" charset="0"/>
                <a:ea typeface="Calibri" pitchFamily="34" charset="-122"/>
                <a:cs typeface="Calibri" pitchFamily="34" charset="-120"/>
              </a:rPr>
              <a:t>Terabytes de código fuente extraídos de repositorios públicos de GitHub.</a:t>
            </a:r>
            <a:endParaRPr lang="en-US" sz="1350" dirty="0"/>
          </a:p>
          <a:p>
            <a:pPr marL="342900" indent="-342900">
              <a:lnSpc>
                <a:spcPts val="2000"/>
              </a:lnSpc>
              <a:spcAft>
                <a:spcPts val="1200"/>
              </a:spcAft>
              <a:buSzPct val="100000"/>
              <a:buChar char="•"/>
            </a:pPr>
            <a:r>
              <a:rPr lang="en-US" sz="1350" dirty="0">
                <a:solidFill>
                  <a:srgbClr val="1B2A4A"/>
                </a:solidFill>
                <a:latin typeface="Calibri" pitchFamily="34" charset="0"/>
                <a:ea typeface="Calibri" pitchFamily="34" charset="-122"/>
                <a:cs typeface="Calibri" pitchFamily="34" charset="-120"/>
              </a:rPr>
              <a:t>Incluye licencias permisivas: MIT, Apache 2.0.</a:t>
            </a:r>
            <a:endParaRPr lang="en-US" sz="1350" dirty="0"/>
          </a:p>
          <a:p>
            <a:pPr marL="342900" indent="-342900">
              <a:lnSpc>
                <a:spcPts val="2000"/>
              </a:lnSpc>
              <a:buSzPct val="100000"/>
              <a:buChar char="•"/>
            </a:pPr>
            <a:r>
              <a:rPr lang="en-US" sz="1350" dirty="0">
                <a:solidFill>
                  <a:srgbClr val="1B2A4A"/>
                </a:solidFill>
                <a:latin typeface="Calibri" pitchFamily="34" charset="0"/>
                <a:ea typeface="Calibri" pitchFamily="34" charset="-122"/>
                <a:cs typeface="Calibri" pitchFamily="34" charset="-120"/>
              </a:rPr>
              <a:t>Incluye licencias recíprocas / copyleft: GNU GPL v2 y v3.</a:t>
            </a:r>
            <a:endParaRPr lang="en-US" sz="1350" dirty="0"/>
          </a:p>
        </p:txBody>
      </p:sp>
      <p:sp>
        <p:nvSpPr>
          <p:cNvPr id="11" name="Shape 8"/>
          <p:cNvSpPr/>
          <p:nvPr/>
        </p:nvSpPr>
        <p:spPr>
          <a:xfrm>
            <a:off x="5897880" y="2148840"/>
            <a:ext cx="5742432" cy="4160520"/>
          </a:xfrm>
          <a:prstGeom prst="roundRect">
            <a:avLst>
              <a:gd name="adj" fmla="val 1758"/>
            </a:avLst>
          </a:prstGeom>
          <a:solidFill>
            <a:srgbClr val="1B2A4A"/>
          </a:solidFill>
          <a:ln/>
        </p:spPr>
      </p:sp>
      <p:sp>
        <p:nvSpPr>
          <p:cNvPr id="12" name="Shape 9"/>
          <p:cNvSpPr/>
          <p:nvPr/>
        </p:nvSpPr>
        <p:spPr>
          <a:xfrm>
            <a:off x="6217920" y="2468880"/>
            <a:ext cx="640080" cy="640080"/>
          </a:xfrm>
          <a:prstGeom prst="ellipse">
            <a:avLst/>
          </a:prstGeom>
          <a:solidFill>
            <a:srgbClr val="E63946"/>
          </a:solidFill>
          <a:ln/>
        </p:spPr>
      </p:sp>
      <p:pic>
        <p:nvPicPr>
          <p:cNvPr id="13" name="Image 1" descr="/home/claude/pptx_work/icon_code_white.png">    </p:cNvPr>
          <p:cNvPicPr>
            <a:picLocks noChangeAspect="1"/>
          </p:cNvPicPr>
          <p:nvPr/>
        </p:nvPicPr>
        <p:blipFill>
          <a:blip r:embed="rId2"/>
          <a:stretch>
            <a:fillRect/>
          </a:stretch>
        </p:blipFill>
        <p:spPr>
          <a:xfrm>
            <a:off x="6397142" y="2648102"/>
            <a:ext cx="281635" cy="281635"/>
          </a:xfrm>
          <a:prstGeom prst="rect">
            <a:avLst/>
          </a:prstGeom>
        </p:spPr>
      </p:pic>
      <p:sp>
        <p:nvSpPr>
          <p:cNvPr id="14" name="Text 10"/>
          <p:cNvSpPr/>
          <p:nvPr/>
        </p:nvSpPr>
        <p:spPr>
          <a:xfrm>
            <a:off x="7040880" y="2532888"/>
            <a:ext cx="448056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Mecanismo Estadístico</a:t>
            </a:r>
            <a:endParaRPr lang="en-US" sz="1700" dirty="0"/>
          </a:p>
        </p:txBody>
      </p:sp>
      <p:sp>
        <p:nvSpPr>
          <p:cNvPr id="15" name="Text 11"/>
          <p:cNvSpPr/>
          <p:nvPr/>
        </p:nvSpPr>
        <p:spPr>
          <a:xfrm>
            <a:off x="6217920" y="3200400"/>
            <a:ext cx="5120640" cy="777240"/>
          </a:xfrm>
          <a:prstGeom prst="rect">
            <a:avLst/>
          </a:prstGeom>
          <a:noFill/>
          <a:ln/>
        </p:spPr>
        <p:txBody>
          <a:bodyPr wrap="square" lIns="0" tIns="0" rIns="0" bIns="0" rtlCol="0" anchor="ctr"/>
          <a:lstStyle/>
          <a:p>
            <a:pPr indent="0" marL="0">
              <a:lnSpc>
                <a:spcPts val="1800"/>
              </a:lnSpc>
              <a:buNone/>
            </a:pPr>
            <a:r>
              <a:rPr lang="en-US" sz="1300" dirty="0">
                <a:solidFill>
                  <a:srgbClr val="E8EEF7"/>
                </a:solidFill>
                <a:latin typeface="Calibri" pitchFamily="34" charset="0"/>
                <a:ea typeface="Calibri" pitchFamily="34" charset="-122"/>
                <a:cs typeface="Calibri" pitchFamily="34" charset="-120"/>
              </a:rPr>
              <a:t>El modelo tokeniza las secuencias de código X = (x₁, x₂, …, xₙ) para estimar la probabilidad condicional del siguiente token:</a:t>
            </a:r>
            <a:endParaRPr lang="en-US" sz="1300" dirty="0"/>
          </a:p>
        </p:txBody>
      </p:sp>
      <p:sp>
        <p:nvSpPr>
          <p:cNvPr id="16" name="Shape 12"/>
          <p:cNvSpPr/>
          <p:nvPr/>
        </p:nvSpPr>
        <p:spPr>
          <a:xfrm>
            <a:off x="6217920" y="4069080"/>
            <a:ext cx="5120640" cy="868680"/>
          </a:xfrm>
          <a:prstGeom prst="roundRect">
            <a:avLst>
              <a:gd name="adj" fmla="val 6316"/>
            </a:avLst>
          </a:prstGeom>
          <a:solidFill>
            <a:srgbClr val="273A63"/>
          </a:solidFill>
          <a:ln/>
        </p:spPr>
      </p:sp>
      <p:sp>
        <p:nvSpPr>
          <p:cNvPr id="17" name="Text 13"/>
          <p:cNvSpPr/>
          <p:nvPr/>
        </p:nvSpPr>
        <p:spPr>
          <a:xfrm>
            <a:off x="6217920" y="4069080"/>
            <a:ext cx="5120640" cy="868680"/>
          </a:xfrm>
          <a:prstGeom prst="rect">
            <a:avLst/>
          </a:prstGeom>
          <a:noFill/>
          <a:ln/>
        </p:spPr>
        <p:txBody>
          <a:bodyPr wrap="square" lIns="0" tIns="0" rIns="0" bIns="0" rtlCol="0" anchor="ctr"/>
          <a:lstStyle/>
          <a:p>
            <a:pPr algn="ctr" indent="0" marL="0">
              <a:buNone/>
            </a:pPr>
            <a:r>
              <a:rPr lang="en-US" sz="1700" b="1" i="1" dirty="0">
                <a:solidFill>
                  <a:srgbClr val="CADCFC"/>
                </a:solidFill>
                <a:latin typeface="Cambria" pitchFamily="34" charset="0"/>
                <a:ea typeface="Cambria" pitchFamily="34" charset="-122"/>
                <a:cs typeface="Cambria" pitchFamily="34" charset="-120"/>
              </a:rPr>
              <a:t>P(xₜ | x₁, x₂, …, xₜ₋₁) = softmax(W · hₜ)</a:t>
            </a:r>
            <a:endParaRPr lang="en-US" sz="1700" dirty="0"/>
          </a:p>
        </p:txBody>
      </p:sp>
      <p:sp>
        <p:nvSpPr>
          <p:cNvPr id="18" name="Text 14"/>
          <p:cNvSpPr/>
          <p:nvPr/>
        </p:nvSpPr>
        <p:spPr>
          <a:xfrm>
            <a:off x="6217920" y="5120640"/>
            <a:ext cx="5120640" cy="1097280"/>
          </a:xfrm>
          <a:prstGeom prst="rect">
            <a:avLst/>
          </a:prstGeom>
          <a:noFill/>
          <a:ln/>
        </p:spPr>
        <p:txBody>
          <a:bodyPr wrap="square" lIns="0" tIns="0" rIns="0" bIns="0" rtlCol="0" anchor="ctr"/>
          <a:lstStyle/>
          <a:p>
            <a:pPr indent="0" marL="0">
              <a:lnSpc>
                <a:spcPts val="1700"/>
              </a:lnSpc>
              <a:buNone/>
            </a:pPr>
            <a:r>
              <a:rPr lang="en-US" sz="1250" i="1" dirty="0">
                <a:solidFill>
                  <a:srgbClr val="AEB9CC"/>
                </a:solidFill>
                <a:latin typeface="Calibri" pitchFamily="34" charset="0"/>
                <a:ea typeface="Calibri" pitchFamily="34" charset="-122"/>
                <a:cs typeface="Calibri" pitchFamily="34" charset="-120"/>
              </a:rPr>
              <a:t>Donde hₜ representa el estado oculto del Transformer. El modelo usa atención probabilística para predecir y reconstruir bloques enteros de código a partir del contexto del programador.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8A99B3"/>
                </a:solidFill>
                <a:latin typeface="Calibri" pitchFamily="34" charset="0"/>
                <a:ea typeface="Calibri" pitchFamily="34" charset="-122"/>
                <a:cs typeface="Calibri" pitchFamily="34" charset="-120"/>
              </a:rPr>
              <a:t>03</a:t>
            </a:r>
            <a:endParaRPr lang="en-US" sz="1000" dirty="0"/>
          </a:p>
        </p:txBody>
      </p:sp>
      <p:sp>
        <p:nvSpPr>
          <p:cNvPr id="3" name="Text 1"/>
          <p:cNvSpPr/>
          <p:nvPr/>
        </p:nvSpPr>
        <p:spPr>
          <a:xfrm>
            <a:off x="548640" y="411480"/>
            <a:ext cx="914400" cy="457200"/>
          </a:xfrm>
          <a:prstGeom prst="rect">
            <a:avLst/>
          </a:prstGeom>
          <a:noFill/>
          <a:ln/>
        </p:spPr>
        <p:txBody>
          <a:bodyPr wrap="square" lIns="0" tIns="0" rIns="0" bIns="0" rtlCol="0" anchor="ctr"/>
          <a:lstStyle/>
          <a:p>
            <a:pPr indent="0" marL="0">
              <a:buNone/>
            </a:pPr>
            <a:r>
              <a:rPr lang="en-US" sz="2000" b="1" dirty="0">
                <a:solidFill>
                  <a:srgbClr val="E63946"/>
                </a:solidFill>
                <a:latin typeface="Cambria" pitchFamily="34" charset="0"/>
                <a:ea typeface="Cambria" pitchFamily="34" charset="-122"/>
                <a:cs typeface="Cambria" pitchFamily="34" charset="-120"/>
              </a:rPr>
              <a:t>02</a:t>
            </a:r>
            <a:endParaRPr lang="en-US" sz="2000" dirty="0"/>
          </a:p>
        </p:txBody>
      </p:sp>
      <p:sp>
        <p:nvSpPr>
          <p:cNvPr id="4" name="Text 2"/>
          <p:cNvSpPr/>
          <p:nvPr/>
        </p:nvSpPr>
        <p:spPr>
          <a:xfrm>
            <a:off x="548640" y="777240"/>
            <a:ext cx="100584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Diagnóstico de la Infracción Ética</a:t>
            </a:r>
            <a:endParaRPr lang="en-US" sz="3000" dirty="0"/>
          </a:p>
        </p:txBody>
      </p:sp>
      <p:sp>
        <p:nvSpPr>
          <p:cNvPr id="5" name="Shape 3"/>
          <p:cNvSpPr/>
          <p:nvPr/>
        </p:nvSpPr>
        <p:spPr>
          <a:xfrm>
            <a:off x="548640" y="1463040"/>
            <a:ext cx="10881360" cy="548640"/>
          </a:xfrm>
          <a:prstGeom prst="roundRect">
            <a:avLst>
              <a:gd name="adj" fmla="val 10000"/>
            </a:avLst>
          </a:prstGeom>
          <a:solidFill>
            <a:srgbClr val="FDEAEC"/>
          </a:solidFill>
          <a:ln/>
        </p:spPr>
      </p:sp>
      <p:pic>
        <p:nvPicPr>
          <p:cNvPr id="6" name="Image 0" descr="/home/claude/pptx_work/icon_gavel_accent.png">    </p:cNvPr>
          <p:cNvPicPr>
            <a:picLocks noChangeAspect="1"/>
          </p:cNvPicPr>
          <p:nvPr/>
        </p:nvPicPr>
        <p:blipFill>
          <a:blip r:embed="rId1"/>
          <a:stretch>
            <a:fillRect/>
          </a:stretch>
        </p:blipFill>
        <p:spPr>
          <a:xfrm>
            <a:off x="713232" y="1572768"/>
            <a:ext cx="329184" cy="329184"/>
          </a:xfrm>
          <a:prstGeom prst="rect">
            <a:avLst/>
          </a:prstGeom>
        </p:spPr>
      </p:pic>
      <p:sp>
        <p:nvSpPr>
          <p:cNvPr id="7" name="Text 4"/>
          <p:cNvSpPr/>
          <p:nvPr/>
        </p:nvSpPr>
        <p:spPr>
          <a:xfrm>
            <a:off x="1188720" y="1463040"/>
            <a:ext cx="10104120" cy="548640"/>
          </a:xfrm>
          <a:prstGeom prst="rect">
            <a:avLst/>
          </a:prstGeom>
          <a:noFill/>
          <a:ln/>
        </p:spPr>
        <p:txBody>
          <a:bodyPr wrap="square" lIns="0" tIns="0" rIns="0" bIns="0" rtlCol="0" anchor="ctr"/>
          <a:lstStyle/>
          <a:p>
            <a:pPr indent="0" marL="0">
              <a:buNone/>
            </a:pPr>
            <a:r>
              <a:rPr lang="en-US" sz="1250" b="1" dirty="0">
                <a:solidFill>
                  <a:srgbClr val="E63946"/>
                </a:solidFill>
                <a:latin typeface="Calibri" pitchFamily="34" charset="0"/>
                <a:ea typeface="Calibri" pitchFamily="34" charset="-122"/>
                <a:cs typeface="Calibri" pitchFamily="34" charset="-120"/>
              </a:rPr>
              <a:t>Clasificación formal: Plagio algorítmico, omisión sistemática de atribución e infracción de licencias — mala conducta en computación científica.</a:t>
            </a:r>
            <a:endParaRPr lang="en-US" sz="1250" dirty="0"/>
          </a:p>
        </p:txBody>
      </p:sp>
      <p:sp>
        <p:nvSpPr>
          <p:cNvPr id="8" name="Shape 5"/>
          <p:cNvSpPr/>
          <p:nvPr/>
        </p:nvSpPr>
        <p:spPr>
          <a:xfrm>
            <a:off x="548640" y="2286000"/>
            <a:ext cx="10881360" cy="1234440"/>
          </a:xfrm>
          <a:prstGeom prst="roundRect">
            <a:avLst>
              <a:gd name="adj" fmla="val 5926"/>
            </a:avLst>
          </a:prstGeom>
          <a:solidFill>
            <a:srgbClr val="F7F9FC"/>
          </a:solidFill>
          <a:ln w="12700">
            <a:solidFill>
              <a:srgbClr val="DDE4EE"/>
            </a:solidFill>
            <a:prstDash val="solid"/>
          </a:ln>
        </p:spPr>
      </p:sp>
      <p:sp>
        <p:nvSpPr>
          <p:cNvPr id="9" name="Shape 6"/>
          <p:cNvSpPr/>
          <p:nvPr/>
        </p:nvSpPr>
        <p:spPr>
          <a:xfrm>
            <a:off x="822960" y="2487168"/>
            <a:ext cx="822960" cy="822960"/>
          </a:xfrm>
          <a:prstGeom prst="ellipse">
            <a:avLst/>
          </a:prstGeom>
          <a:solidFill>
            <a:srgbClr val="1B2A4A"/>
          </a:solidFill>
          <a:ln/>
        </p:spPr>
      </p:sp>
      <p:pic>
        <p:nvPicPr>
          <p:cNvPr id="10" name="Image 1" descr="/home/claude/pptx_work/icon_balance_white.png">    </p:cNvPr>
          <p:cNvPicPr>
            <a:picLocks noChangeAspect="1"/>
          </p:cNvPicPr>
          <p:nvPr/>
        </p:nvPicPr>
        <p:blipFill>
          <a:blip r:embed="rId2"/>
          <a:stretch>
            <a:fillRect/>
          </a:stretch>
        </p:blipFill>
        <p:spPr>
          <a:xfrm>
            <a:off x="1053389" y="2717597"/>
            <a:ext cx="362102" cy="362102"/>
          </a:xfrm>
          <a:prstGeom prst="rect">
            <a:avLst/>
          </a:prstGeom>
        </p:spPr>
      </p:pic>
      <p:sp>
        <p:nvSpPr>
          <p:cNvPr id="11" name="Text 7"/>
          <p:cNvSpPr/>
          <p:nvPr/>
        </p:nvSpPr>
        <p:spPr>
          <a:xfrm>
            <a:off x="1874520" y="2423160"/>
            <a:ext cx="9326880" cy="36576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Violación de la licencia MIT</a:t>
            </a:r>
            <a:endParaRPr lang="en-US" sz="1600" dirty="0"/>
          </a:p>
        </p:txBody>
      </p:sp>
      <p:sp>
        <p:nvSpPr>
          <p:cNvPr id="12" name="Text 8"/>
          <p:cNvSpPr/>
          <p:nvPr/>
        </p:nvSpPr>
        <p:spPr>
          <a:xfrm>
            <a:off x="1874520" y="2788920"/>
            <a:ext cx="9326880" cy="640080"/>
          </a:xfrm>
          <a:prstGeom prst="rect">
            <a:avLst/>
          </a:prstGeom>
          <a:noFill/>
          <a:ln/>
        </p:spPr>
        <p:txBody>
          <a:bodyPr wrap="square" lIns="0" tIns="0" rIns="0" bIns="0" rtlCol="0" anchor="ctr"/>
          <a:lstStyle/>
          <a:p>
            <a:pPr indent="0" marL="0">
              <a:lnSpc>
                <a:spcPts val="1600"/>
              </a:lnSpc>
              <a:buNone/>
            </a:pPr>
            <a:r>
              <a:rPr lang="en-US" sz="1250" dirty="0">
                <a:solidFill>
                  <a:srgbClr val="5B6B84"/>
                </a:solidFill>
                <a:latin typeface="Calibri" pitchFamily="34" charset="0"/>
                <a:ea typeface="Calibri" pitchFamily="34" charset="-122"/>
                <a:cs typeface="Calibri" pitchFamily="34" charset="-120"/>
              </a:rPr>
              <a:t>Exige que cualquier reproducción parcial o total del código incluya el aviso original de copyright. La atribución obligatoria se omite.</a:t>
            </a:r>
            <a:endParaRPr lang="en-US" sz="1250" dirty="0"/>
          </a:p>
        </p:txBody>
      </p:sp>
      <p:sp>
        <p:nvSpPr>
          <p:cNvPr id="13" name="Shape 9"/>
          <p:cNvSpPr/>
          <p:nvPr/>
        </p:nvSpPr>
        <p:spPr>
          <a:xfrm>
            <a:off x="548640" y="3703320"/>
            <a:ext cx="10881360" cy="1234440"/>
          </a:xfrm>
          <a:prstGeom prst="roundRect">
            <a:avLst>
              <a:gd name="adj" fmla="val 5926"/>
            </a:avLst>
          </a:prstGeom>
          <a:solidFill>
            <a:srgbClr val="F7F9FC"/>
          </a:solidFill>
          <a:ln w="12700">
            <a:solidFill>
              <a:srgbClr val="DDE4EE"/>
            </a:solidFill>
            <a:prstDash val="solid"/>
          </a:ln>
        </p:spPr>
      </p:sp>
      <p:sp>
        <p:nvSpPr>
          <p:cNvPr id="14" name="Shape 10"/>
          <p:cNvSpPr/>
          <p:nvPr/>
        </p:nvSpPr>
        <p:spPr>
          <a:xfrm>
            <a:off x="822960" y="3904488"/>
            <a:ext cx="822960" cy="822960"/>
          </a:xfrm>
          <a:prstGeom prst="ellipse">
            <a:avLst/>
          </a:prstGeom>
          <a:solidFill>
            <a:srgbClr val="1B2A4A"/>
          </a:solidFill>
          <a:ln/>
        </p:spPr>
      </p:sp>
      <p:pic>
        <p:nvPicPr>
          <p:cNvPr id="15" name="Image 2" descr="/home/claude/pptx_work/icon_shield_white.png">    </p:cNvPr>
          <p:cNvPicPr>
            <a:picLocks noChangeAspect="1"/>
          </p:cNvPicPr>
          <p:nvPr/>
        </p:nvPicPr>
        <p:blipFill>
          <a:blip r:embed="rId3"/>
          <a:stretch>
            <a:fillRect/>
          </a:stretch>
        </p:blipFill>
        <p:spPr>
          <a:xfrm>
            <a:off x="1053389" y="4134917"/>
            <a:ext cx="362102" cy="362102"/>
          </a:xfrm>
          <a:prstGeom prst="rect">
            <a:avLst/>
          </a:prstGeom>
        </p:spPr>
      </p:pic>
      <p:sp>
        <p:nvSpPr>
          <p:cNvPr id="16" name="Text 11"/>
          <p:cNvSpPr/>
          <p:nvPr/>
        </p:nvSpPr>
        <p:spPr>
          <a:xfrm>
            <a:off x="1874520" y="3840480"/>
            <a:ext cx="9326880" cy="36576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Violación de la licencia GPL</a:t>
            </a:r>
            <a:endParaRPr lang="en-US" sz="1600" dirty="0"/>
          </a:p>
        </p:txBody>
      </p:sp>
      <p:sp>
        <p:nvSpPr>
          <p:cNvPr id="17" name="Text 12"/>
          <p:cNvSpPr/>
          <p:nvPr/>
        </p:nvSpPr>
        <p:spPr>
          <a:xfrm>
            <a:off x="1874520" y="4206240"/>
            <a:ext cx="9326880" cy="640080"/>
          </a:xfrm>
          <a:prstGeom prst="rect">
            <a:avLst/>
          </a:prstGeom>
          <a:noFill/>
          <a:ln/>
        </p:spPr>
        <p:txBody>
          <a:bodyPr wrap="square" lIns="0" tIns="0" rIns="0" bIns="0" rtlCol="0" anchor="ctr"/>
          <a:lstStyle/>
          <a:p>
            <a:pPr indent="0" marL="0">
              <a:lnSpc>
                <a:spcPts val="1600"/>
              </a:lnSpc>
              <a:buNone/>
            </a:pPr>
            <a:r>
              <a:rPr lang="en-US" sz="1250" dirty="0">
                <a:solidFill>
                  <a:srgbClr val="5B6B84"/>
                </a:solidFill>
                <a:latin typeface="Calibri" pitchFamily="34" charset="0"/>
                <a:ea typeface="Calibri" pitchFamily="34" charset="-122"/>
                <a:cs typeface="Calibri" pitchFamily="34" charset="-120"/>
              </a:rPr>
              <a:t>Exige que toda obra derivada mantenga el carácter abierto (copyleft) y se distribuya bajo los mismos términos de licencia.</a:t>
            </a:r>
            <a:endParaRPr lang="en-US" sz="1250" dirty="0"/>
          </a:p>
        </p:txBody>
      </p:sp>
      <p:sp>
        <p:nvSpPr>
          <p:cNvPr id="18" name="Shape 13"/>
          <p:cNvSpPr/>
          <p:nvPr/>
        </p:nvSpPr>
        <p:spPr>
          <a:xfrm>
            <a:off x="548640" y="5120640"/>
            <a:ext cx="10881360" cy="1234440"/>
          </a:xfrm>
          <a:prstGeom prst="roundRect">
            <a:avLst>
              <a:gd name="adj" fmla="val 5926"/>
            </a:avLst>
          </a:prstGeom>
          <a:solidFill>
            <a:srgbClr val="F7F9FC"/>
          </a:solidFill>
          <a:ln w="12700">
            <a:solidFill>
              <a:srgbClr val="DDE4EE"/>
            </a:solidFill>
            <a:prstDash val="solid"/>
          </a:ln>
        </p:spPr>
      </p:sp>
      <p:sp>
        <p:nvSpPr>
          <p:cNvPr id="19" name="Shape 14"/>
          <p:cNvSpPr/>
          <p:nvPr/>
        </p:nvSpPr>
        <p:spPr>
          <a:xfrm>
            <a:off x="822960" y="5321808"/>
            <a:ext cx="822960" cy="822960"/>
          </a:xfrm>
          <a:prstGeom prst="ellipse">
            <a:avLst/>
          </a:prstGeom>
          <a:solidFill>
            <a:srgbClr val="1B2A4A"/>
          </a:solidFill>
          <a:ln/>
        </p:spPr>
      </p:sp>
      <p:pic>
        <p:nvPicPr>
          <p:cNvPr id="20" name="Image 3" descr="/home/claude/pptx_work/icon_fingerprint_white.png">    </p:cNvPr>
          <p:cNvPicPr>
            <a:picLocks noChangeAspect="1"/>
          </p:cNvPicPr>
          <p:nvPr/>
        </p:nvPicPr>
        <p:blipFill>
          <a:blip r:embed="rId4"/>
          <a:stretch>
            <a:fillRect/>
          </a:stretch>
        </p:blipFill>
        <p:spPr>
          <a:xfrm>
            <a:off x="1053389" y="5552237"/>
            <a:ext cx="362102" cy="362102"/>
          </a:xfrm>
          <a:prstGeom prst="rect">
            <a:avLst/>
          </a:prstGeom>
        </p:spPr>
      </p:pic>
      <p:sp>
        <p:nvSpPr>
          <p:cNvPr id="21" name="Text 15"/>
          <p:cNvSpPr/>
          <p:nvPr/>
        </p:nvSpPr>
        <p:spPr>
          <a:xfrm>
            <a:off x="1874520" y="5257800"/>
            <a:ext cx="9326880" cy="36576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Fallo ético interno: “lavado” de copyright</a:t>
            </a:r>
            <a:endParaRPr lang="en-US" sz="1600" dirty="0"/>
          </a:p>
        </p:txBody>
      </p:sp>
      <p:sp>
        <p:nvSpPr>
          <p:cNvPr id="22" name="Text 16"/>
          <p:cNvSpPr/>
          <p:nvPr/>
        </p:nvSpPr>
        <p:spPr>
          <a:xfrm>
            <a:off x="1874520" y="5623560"/>
            <a:ext cx="9326880" cy="640080"/>
          </a:xfrm>
          <a:prstGeom prst="rect">
            <a:avLst/>
          </a:prstGeom>
          <a:noFill/>
          <a:ln/>
        </p:spPr>
        <p:txBody>
          <a:bodyPr wrap="square" lIns="0" tIns="0" rIns="0" bIns="0" rtlCol="0" anchor="ctr"/>
          <a:lstStyle/>
          <a:p>
            <a:pPr indent="0" marL="0">
              <a:lnSpc>
                <a:spcPts val="1600"/>
              </a:lnSpc>
              <a:buNone/>
            </a:pPr>
            <a:r>
              <a:rPr lang="en-US" sz="1250" dirty="0">
                <a:solidFill>
                  <a:srgbClr val="5B6B84"/>
                </a:solidFill>
                <a:latin typeface="Calibri" pitchFamily="34" charset="0"/>
                <a:ea typeface="Calibri" pitchFamily="34" charset="-122"/>
                <a:cs typeface="Calibri" pitchFamily="34" charset="-120"/>
              </a:rPr>
              <a:t>El modelo remueve metadatos de autoría y encabezados de licencia (CMI) al tokenizar, entregando el código como si fuera libre de restricciones.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8A99B3"/>
                </a:solidFill>
                <a:latin typeface="Calibri" pitchFamily="34" charset="0"/>
                <a:ea typeface="Calibri" pitchFamily="34" charset="-122"/>
                <a:cs typeface="Calibri" pitchFamily="34" charset="-120"/>
              </a:rPr>
              <a:t>04</a:t>
            </a:r>
            <a:endParaRPr lang="en-US" sz="1000" dirty="0"/>
          </a:p>
        </p:txBody>
      </p:sp>
      <p:sp>
        <p:nvSpPr>
          <p:cNvPr id="3" name="Text 1"/>
          <p:cNvSpPr/>
          <p:nvPr/>
        </p:nvSpPr>
        <p:spPr>
          <a:xfrm>
            <a:off x="548640" y="411480"/>
            <a:ext cx="914400" cy="457200"/>
          </a:xfrm>
          <a:prstGeom prst="rect">
            <a:avLst/>
          </a:prstGeom>
          <a:noFill/>
          <a:ln/>
        </p:spPr>
        <p:txBody>
          <a:bodyPr wrap="square" lIns="0" tIns="0" rIns="0" bIns="0" rtlCol="0" anchor="ctr"/>
          <a:lstStyle/>
          <a:p>
            <a:pPr indent="0" marL="0">
              <a:buNone/>
            </a:pPr>
            <a:r>
              <a:rPr lang="en-US" sz="2000" b="1" dirty="0">
                <a:solidFill>
                  <a:srgbClr val="E63946"/>
                </a:solidFill>
                <a:latin typeface="Cambria" pitchFamily="34" charset="0"/>
                <a:ea typeface="Cambria" pitchFamily="34" charset="-122"/>
                <a:cs typeface="Cambria" pitchFamily="34" charset="-120"/>
              </a:rPr>
              <a:t>03</a:t>
            </a:r>
            <a:endParaRPr lang="en-US" sz="2000" dirty="0"/>
          </a:p>
        </p:txBody>
      </p:sp>
      <p:sp>
        <p:nvSpPr>
          <p:cNvPr id="4" name="Text 2"/>
          <p:cNvSpPr/>
          <p:nvPr/>
        </p:nvSpPr>
        <p:spPr>
          <a:xfrm>
            <a:off x="548640" y="777240"/>
            <a:ext cx="91440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Evidencia Forense Cuantitativa</a:t>
            </a:r>
            <a:endParaRPr lang="en-US" sz="3000" dirty="0"/>
          </a:p>
        </p:txBody>
      </p:sp>
      <p:sp>
        <p:nvSpPr>
          <p:cNvPr id="5" name="Text 3"/>
          <p:cNvSpPr/>
          <p:nvPr/>
        </p:nvSpPr>
        <p:spPr>
          <a:xfrm>
            <a:off x="548640" y="1417320"/>
            <a:ext cx="10607040" cy="365760"/>
          </a:xfrm>
          <a:prstGeom prst="rect">
            <a:avLst/>
          </a:prstGeom>
          <a:noFill/>
          <a:ln/>
        </p:spPr>
        <p:txBody>
          <a:bodyPr wrap="square" lIns="0" tIns="0" rIns="0" bIns="0" rtlCol="0" anchor="ctr"/>
          <a:lstStyle/>
          <a:p>
            <a:pPr indent="0" marL="0">
              <a:buNone/>
            </a:pPr>
            <a:r>
              <a:rPr lang="en-US" sz="1300" dirty="0">
                <a:solidFill>
                  <a:srgbClr val="5B6B84"/>
                </a:solidFill>
                <a:latin typeface="Calibri" pitchFamily="34" charset="0"/>
                <a:ea typeface="Calibri" pitchFamily="34" charset="-122"/>
                <a:cs typeface="Calibri" pitchFamily="34" charset="-120"/>
              </a:rPr>
              <a:t>Métricas de memorización no estocástica y duplicación literal (verbatim extraction).</a:t>
            </a:r>
            <a:endParaRPr lang="en-US" sz="1300" dirty="0"/>
          </a:p>
        </p:txBody>
      </p:sp>
      <p:sp>
        <p:nvSpPr>
          <p:cNvPr id="6" name="Shape 4"/>
          <p:cNvSpPr/>
          <p:nvPr/>
        </p:nvSpPr>
        <p:spPr>
          <a:xfrm>
            <a:off x="548640" y="2011680"/>
            <a:ext cx="5120640" cy="1965960"/>
          </a:xfrm>
          <a:prstGeom prst="roundRect">
            <a:avLst>
              <a:gd name="adj" fmla="val 3721"/>
            </a:avLst>
          </a:prstGeom>
          <a:solidFill>
            <a:srgbClr val="1B2A4A"/>
          </a:solidFill>
          <a:ln/>
        </p:spPr>
      </p:sp>
      <p:sp>
        <p:nvSpPr>
          <p:cNvPr id="7" name="Shape 5"/>
          <p:cNvSpPr/>
          <p:nvPr/>
        </p:nvSpPr>
        <p:spPr>
          <a:xfrm>
            <a:off x="822960" y="2240280"/>
            <a:ext cx="594360" cy="594360"/>
          </a:xfrm>
          <a:prstGeom prst="ellipse">
            <a:avLst/>
          </a:prstGeom>
          <a:solidFill>
            <a:srgbClr val="E63946"/>
          </a:solidFill>
          <a:ln/>
        </p:spPr>
      </p:sp>
      <p:pic>
        <p:nvPicPr>
          <p:cNvPr id="8" name="Image 0" descr="/home/claude/pptx_work/icon_search_white.png">    </p:cNvPr>
          <p:cNvPicPr>
            <a:picLocks noChangeAspect="1"/>
          </p:cNvPicPr>
          <p:nvPr/>
        </p:nvPicPr>
        <p:blipFill>
          <a:blip r:embed="rId1"/>
          <a:stretch>
            <a:fillRect/>
          </a:stretch>
        </p:blipFill>
        <p:spPr>
          <a:xfrm>
            <a:off x="989381" y="2406701"/>
            <a:ext cx="261518" cy="261518"/>
          </a:xfrm>
          <a:prstGeom prst="rect">
            <a:avLst/>
          </a:prstGeom>
        </p:spPr>
      </p:pic>
      <p:sp>
        <p:nvSpPr>
          <p:cNvPr id="9" name="Text 6"/>
          <p:cNvSpPr/>
          <p:nvPr/>
        </p:nvSpPr>
        <p:spPr>
          <a:xfrm>
            <a:off x="1600200" y="2286000"/>
            <a:ext cx="384048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Similitud de Jaccard</a:t>
            </a:r>
            <a:endParaRPr lang="en-US" sz="1500" dirty="0"/>
          </a:p>
        </p:txBody>
      </p:sp>
      <p:sp>
        <p:nvSpPr>
          <p:cNvPr id="10" name="Text 7"/>
          <p:cNvSpPr/>
          <p:nvPr/>
        </p:nvSpPr>
        <p:spPr>
          <a:xfrm>
            <a:off x="822960" y="2880360"/>
            <a:ext cx="4572000" cy="457200"/>
          </a:xfrm>
          <a:prstGeom prst="rect">
            <a:avLst/>
          </a:prstGeom>
          <a:noFill/>
          <a:ln/>
        </p:spPr>
        <p:txBody>
          <a:bodyPr wrap="square" lIns="0" tIns="0" rIns="0" bIns="0" rtlCol="0" anchor="ctr"/>
          <a:lstStyle/>
          <a:p>
            <a:pPr indent="0" marL="0">
              <a:lnSpc>
                <a:spcPts val="1500"/>
              </a:lnSpc>
              <a:buNone/>
            </a:pPr>
            <a:r>
              <a:rPr lang="en-US" sz="1150" dirty="0">
                <a:solidFill>
                  <a:srgbClr val="E8EEF7"/>
                </a:solidFill>
                <a:latin typeface="Calibri" pitchFamily="34" charset="0"/>
                <a:ea typeface="Calibri" pitchFamily="34" charset="-122"/>
                <a:cs typeface="Calibri" pitchFamily="34" charset="-120"/>
              </a:rPr>
              <a:t>Intersección de tokens entre la salida del modelo G y el repositorio original D:</a:t>
            </a:r>
            <a:endParaRPr lang="en-US" sz="1150" dirty="0"/>
          </a:p>
        </p:txBody>
      </p:sp>
      <p:sp>
        <p:nvSpPr>
          <p:cNvPr id="11" name="Text 8"/>
          <p:cNvSpPr/>
          <p:nvPr/>
        </p:nvSpPr>
        <p:spPr>
          <a:xfrm>
            <a:off x="822960" y="3337560"/>
            <a:ext cx="4572000" cy="502920"/>
          </a:xfrm>
          <a:prstGeom prst="rect">
            <a:avLst/>
          </a:prstGeom>
          <a:noFill/>
          <a:ln/>
        </p:spPr>
        <p:txBody>
          <a:bodyPr wrap="square" lIns="0" tIns="0" rIns="0" bIns="0" rtlCol="0" anchor="ctr"/>
          <a:lstStyle/>
          <a:p>
            <a:pPr algn="ctr" indent="0" marL="0">
              <a:buNone/>
            </a:pPr>
            <a:r>
              <a:rPr lang="en-US" sz="1600" b="1" i="1" dirty="0">
                <a:solidFill>
                  <a:srgbClr val="CADCFC"/>
                </a:solidFill>
                <a:latin typeface="Cambria" pitchFamily="34" charset="0"/>
                <a:ea typeface="Cambria" pitchFamily="34" charset="-122"/>
                <a:cs typeface="Cambria" pitchFamily="34" charset="-120"/>
              </a:rPr>
              <a:t>J(G, D) = |G ∩ D| / |G ∪ D|</a:t>
            </a:r>
            <a:endParaRPr lang="en-US" sz="1600" dirty="0"/>
          </a:p>
        </p:txBody>
      </p:sp>
      <p:sp>
        <p:nvSpPr>
          <p:cNvPr id="12" name="Shape 9"/>
          <p:cNvSpPr/>
          <p:nvPr/>
        </p:nvSpPr>
        <p:spPr>
          <a:xfrm>
            <a:off x="5897880" y="2011680"/>
            <a:ext cx="5742432" cy="1965960"/>
          </a:xfrm>
          <a:prstGeom prst="roundRect">
            <a:avLst>
              <a:gd name="adj" fmla="val 3721"/>
            </a:avLst>
          </a:prstGeom>
          <a:solidFill>
            <a:srgbClr val="F7F9FC"/>
          </a:solidFill>
          <a:ln w="12700">
            <a:solidFill>
              <a:srgbClr val="DDE4EE"/>
            </a:solidFill>
            <a:prstDash val="solid"/>
          </a:ln>
        </p:spPr>
      </p:sp>
      <p:sp>
        <p:nvSpPr>
          <p:cNvPr id="13" name="Text 10"/>
          <p:cNvSpPr/>
          <p:nvPr/>
        </p:nvSpPr>
        <p:spPr>
          <a:xfrm>
            <a:off x="6080760" y="2103120"/>
            <a:ext cx="2926080" cy="1005840"/>
          </a:xfrm>
          <a:prstGeom prst="rect">
            <a:avLst/>
          </a:prstGeom>
          <a:noFill/>
          <a:ln/>
        </p:spPr>
        <p:txBody>
          <a:bodyPr wrap="square" lIns="0" tIns="0" rIns="0" bIns="0" rtlCol="0" anchor="ctr"/>
          <a:lstStyle/>
          <a:p>
            <a:pPr indent="0" marL="0">
              <a:buNone/>
            </a:pPr>
            <a:r>
              <a:rPr lang="en-US" sz="5600" b="1" dirty="0">
                <a:solidFill>
                  <a:srgbClr val="E63946"/>
                </a:solidFill>
                <a:latin typeface="Cambria" pitchFamily="34" charset="0"/>
                <a:ea typeface="Cambria" pitchFamily="34" charset="-122"/>
                <a:cs typeface="Cambria" pitchFamily="34" charset="-120"/>
              </a:rPr>
              <a:t>1% – 3%</a:t>
            </a:r>
            <a:endParaRPr lang="en-US" sz="5600" dirty="0"/>
          </a:p>
        </p:txBody>
      </p:sp>
      <p:sp>
        <p:nvSpPr>
          <p:cNvPr id="14" name="Text 11"/>
          <p:cNvSpPr/>
          <p:nvPr/>
        </p:nvSpPr>
        <p:spPr>
          <a:xfrm>
            <a:off x="6080760" y="3063240"/>
            <a:ext cx="5394960" cy="822960"/>
          </a:xfrm>
          <a:prstGeom prst="rect">
            <a:avLst/>
          </a:prstGeom>
          <a:noFill/>
          <a:ln/>
        </p:spPr>
        <p:txBody>
          <a:bodyPr wrap="square" lIns="0" tIns="0" rIns="0" bIns="0" rtlCol="0" anchor="ctr"/>
          <a:lstStyle/>
          <a:p>
            <a:pPr indent="0" marL="0">
              <a:lnSpc>
                <a:spcPts val="1600"/>
              </a:lnSpc>
              <a:buNone/>
            </a:pPr>
            <a:r>
              <a:rPr lang="en-US" sz="1250" dirty="0">
                <a:solidFill>
                  <a:srgbClr val="1B2A4A"/>
                </a:solidFill>
                <a:latin typeface="Calibri" pitchFamily="34" charset="0"/>
                <a:ea typeface="Calibri" pitchFamily="34" charset="-122"/>
                <a:cs typeface="Calibri" pitchFamily="34" charset="-120"/>
              </a:rPr>
              <a:t>de las salidas generadas correspondieron a memorización directa, no a generalización estadística.</a:t>
            </a:r>
            <a:endParaRPr lang="en-US" sz="1250" dirty="0"/>
          </a:p>
        </p:txBody>
      </p:sp>
      <p:sp>
        <p:nvSpPr>
          <p:cNvPr id="15" name="Shape 12"/>
          <p:cNvSpPr/>
          <p:nvPr/>
        </p:nvSpPr>
        <p:spPr>
          <a:xfrm>
            <a:off x="9098280" y="2148840"/>
            <a:ext cx="2377440" cy="457200"/>
          </a:xfrm>
          <a:prstGeom prst="roundRect">
            <a:avLst>
              <a:gd name="adj" fmla="val 50000"/>
            </a:avLst>
          </a:prstGeom>
          <a:solidFill>
            <a:srgbClr val="FDEAEC"/>
          </a:solidFill>
          <a:ln/>
        </p:spPr>
      </p:sp>
      <p:sp>
        <p:nvSpPr>
          <p:cNvPr id="16" name="Text 13"/>
          <p:cNvSpPr/>
          <p:nvPr/>
        </p:nvSpPr>
        <p:spPr>
          <a:xfrm>
            <a:off x="9098280" y="2148840"/>
            <a:ext cx="2377440" cy="457200"/>
          </a:xfrm>
          <a:prstGeom prst="rect">
            <a:avLst/>
          </a:prstGeom>
          <a:noFill/>
          <a:ln/>
        </p:spPr>
        <p:txBody>
          <a:bodyPr wrap="square" lIns="0" tIns="0" rIns="0" bIns="0" rtlCol="0" anchor="ctr"/>
          <a:lstStyle/>
          <a:p>
            <a:pPr algn="ctr" indent="0" marL="0">
              <a:buNone/>
            </a:pPr>
            <a:r>
              <a:rPr lang="en-US" sz="1050" b="1" dirty="0">
                <a:solidFill>
                  <a:srgbClr val="E63946"/>
                </a:solidFill>
                <a:latin typeface="Calibri" pitchFamily="34" charset="0"/>
                <a:ea typeface="Calibri" pitchFamily="34" charset="-122"/>
                <a:cs typeface="Calibri" pitchFamily="34" charset="-120"/>
              </a:rPr>
              <a:t>&gt; 150 caracteres seguidos</a:t>
            </a:r>
            <a:endParaRPr lang="en-US" sz="1050" dirty="0"/>
          </a:p>
        </p:txBody>
      </p:sp>
      <p:sp>
        <p:nvSpPr>
          <p:cNvPr id="17" name="Shape 14"/>
          <p:cNvSpPr/>
          <p:nvPr/>
        </p:nvSpPr>
        <p:spPr>
          <a:xfrm>
            <a:off x="548640" y="4206240"/>
            <a:ext cx="11091672" cy="2148840"/>
          </a:xfrm>
          <a:prstGeom prst="roundRect">
            <a:avLst>
              <a:gd name="adj" fmla="val 3404"/>
            </a:avLst>
          </a:prstGeom>
          <a:solidFill>
            <a:srgbClr val="273A63"/>
          </a:solidFill>
          <a:ln/>
        </p:spPr>
      </p:sp>
      <p:sp>
        <p:nvSpPr>
          <p:cNvPr id="18" name="Shape 15"/>
          <p:cNvSpPr/>
          <p:nvPr/>
        </p:nvSpPr>
        <p:spPr>
          <a:xfrm>
            <a:off x="822960" y="4434840"/>
            <a:ext cx="731520" cy="731520"/>
          </a:xfrm>
          <a:prstGeom prst="ellipse">
            <a:avLst/>
          </a:prstGeom>
          <a:solidFill>
            <a:srgbClr val="E63946"/>
          </a:solidFill>
          <a:ln/>
        </p:spPr>
      </p:sp>
      <p:pic>
        <p:nvPicPr>
          <p:cNvPr id="19" name="Image 1" descr="/home/claude/pptx_work/icon_bug_white.png">    </p:cNvPr>
          <p:cNvPicPr>
            <a:picLocks noChangeAspect="1"/>
          </p:cNvPicPr>
          <p:nvPr/>
        </p:nvPicPr>
        <p:blipFill>
          <a:blip r:embed="rId2"/>
          <a:stretch>
            <a:fillRect/>
          </a:stretch>
        </p:blipFill>
        <p:spPr>
          <a:xfrm>
            <a:off x="1027786" y="4639666"/>
            <a:ext cx="321869" cy="321869"/>
          </a:xfrm>
          <a:prstGeom prst="rect">
            <a:avLst/>
          </a:prstGeom>
        </p:spPr>
      </p:pic>
      <p:sp>
        <p:nvSpPr>
          <p:cNvPr id="20" name="Text 16"/>
          <p:cNvSpPr/>
          <p:nvPr/>
        </p:nvSpPr>
        <p:spPr>
          <a:xfrm>
            <a:off x="1737360" y="4434840"/>
            <a:ext cx="960120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Caso testigo: Raíz Cuadrada Inversa de Quake III</a:t>
            </a:r>
            <a:endParaRPr lang="en-US" sz="1600" dirty="0"/>
          </a:p>
        </p:txBody>
      </p:sp>
      <p:sp>
        <p:nvSpPr>
          <p:cNvPr id="21" name="Text 17"/>
          <p:cNvSpPr/>
          <p:nvPr/>
        </p:nvSpPr>
        <p:spPr>
          <a:xfrm>
            <a:off x="1737360" y="4892040"/>
            <a:ext cx="9601200" cy="1280160"/>
          </a:xfrm>
          <a:prstGeom prst="rect">
            <a:avLst/>
          </a:prstGeom>
          <a:noFill/>
          <a:ln/>
        </p:spPr>
        <p:txBody>
          <a:bodyPr wrap="square" lIns="0" tIns="0" rIns="0" bIns="0" rtlCol="0" anchor="ctr"/>
          <a:lstStyle/>
          <a:p>
            <a:pPr indent="0" marL="0">
              <a:lnSpc>
                <a:spcPts val="1900"/>
              </a:lnSpc>
              <a:buNone/>
            </a:pPr>
            <a:r>
              <a:rPr lang="en-US" sz="1300" i="1" dirty="0">
                <a:solidFill>
                  <a:srgbClr val="E8EEF7"/>
                </a:solidFill>
                <a:latin typeface="Calibri" pitchFamily="34" charset="0"/>
                <a:ea typeface="Calibri" pitchFamily="34" charset="-122"/>
                <a:cs typeface="Calibri" pitchFamily="34" charset="-120"/>
              </a:rPr>
              <a:t>Al ingresar como prompt las primeras líneas de la función de renderizado, el modelo devolvió la implementación entera verbatim, habiendo mutilado la cabecera de la licencia GPL de Id Software que regía legalmente dicha función.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8A99B3"/>
                </a:solidFill>
                <a:latin typeface="Calibri" pitchFamily="34" charset="0"/>
                <a:ea typeface="Calibri" pitchFamily="34" charset="-122"/>
                <a:cs typeface="Calibri" pitchFamily="34" charset="-120"/>
              </a:rPr>
              <a:t>05</a:t>
            </a:r>
            <a:endParaRPr lang="en-US" sz="1000" dirty="0"/>
          </a:p>
        </p:txBody>
      </p:sp>
      <p:sp>
        <p:nvSpPr>
          <p:cNvPr id="3" name="Text 1"/>
          <p:cNvSpPr/>
          <p:nvPr/>
        </p:nvSpPr>
        <p:spPr>
          <a:xfrm>
            <a:off x="548640" y="411480"/>
            <a:ext cx="914400" cy="457200"/>
          </a:xfrm>
          <a:prstGeom prst="rect">
            <a:avLst/>
          </a:prstGeom>
          <a:noFill/>
          <a:ln/>
        </p:spPr>
        <p:txBody>
          <a:bodyPr wrap="square" lIns="0" tIns="0" rIns="0" bIns="0" rtlCol="0" anchor="ctr"/>
          <a:lstStyle/>
          <a:p>
            <a:pPr indent="0" marL="0">
              <a:buNone/>
            </a:pPr>
            <a:r>
              <a:rPr lang="en-US" sz="2000" b="1" dirty="0">
                <a:solidFill>
                  <a:srgbClr val="E63946"/>
                </a:solidFill>
                <a:latin typeface="Cambria" pitchFamily="34" charset="0"/>
                <a:ea typeface="Cambria" pitchFamily="34" charset="-122"/>
                <a:cs typeface="Cambria" pitchFamily="34" charset="-120"/>
              </a:rPr>
              <a:t>04</a:t>
            </a:r>
            <a:endParaRPr lang="en-US" sz="2000" dirty="0"/>
          </a:p>
        </p:txBody>
      </p:sp>
      <p:sp>
        <p:nvSpPr>
          <p:cNvPr id="4" name="Text 2"/>
          <p:cNvSpPr/>
          <p:nvPr/>
        </p:nvSpPr>
        <p:spPr>
          <a:xfrm>
            <a:off x="548640" y="777240"/>
            <a:ext cx="9601200" cy="64008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Consecuencias Reales e Impacto</a:t>
            </a:r>
            <a:endParaRPr lang="en-US" sz="3000" dirty="0"/>
          </a:p>
        </p:txBody>
      </p:sp>
      <p:sp>
        <p:nvSpPr>
          <p:cNvPr id="5" name="Shape 3"/>
          <p:cNvSpPr/>
          <p:nvPr/>
        </p:nvSpPr>
        <p:spPr>
          <a:xfrm>
            <a:off x="548640" y="1691640"/>
            <a:ext cx="3520440" cy="4480560"/>
          </a:xfrm>
          <a:prstGeom prst="roundRect">
            <a:avLst>
              <a:gd name="adj" fmla="val 2078"/>
            </a:avLst>
          </a:prstGeom>
          <a:solidFill>
            <a:srgbClr val="F7F9FC"/>
          </a:solidFill>
          <a:ln w="12700">
            <a:solidFill>
              <a:srgbClr val="DDE4EE"/>
            </a:solidFill>
            <a:prstDash val="solid"/>
          </a:ln>
        </p:spPr>
      </p:sp>
      <p:sp>
        <p:nvSpPr>
          <p:cNvPr id="6" name="Shape 4"/>
          <p:cNvSpPr/>
          <p:nvPr/>
        </p:nvSpPr>
        <p:spPr>
          <a:xfrm>
            <a:off x="868680" y="2011680"/>
            <a:ext cx="731520" cy="731520"/>
          </a:xfrm>
          <a:prstGeom prst="ellipse">
            <a:avLst/>
          </a:prstGeom>
          <a:solidFill>
            <a:srgbClr val="1B2A4A"/>
          </a:solidFill>
          <a:ln/>
        </p:spPr>
      </p:sp>
      <p:pic>
        <p:nvPicPr>
          <p:cNvPr id="7" name="Image 0" descr="/home/claude/pptx_work/icon_gavel_white.png">    </p:cNvPr>
          <p:cNvPicPr>
            <a:picLocks noChangeAspect="1"/>
          </p:cNvPicPr>
          <p:nvPr/>
        </p:nvPicPr>
        <p:blipFill>
          <a:blip r:embed="rId1"/>
          <a:stretch>
            <a:fillRect/>
          </a:stretch>
        </p:blipFill>
        <p:spPr>
          <a:xfrm>
            <a:off x="1073506" y="2216506"/>
            <a:ext cx="321869" cy="321869"/>
          </a:xfrm>
          <a:prstGeom prst="rect">
            <a:avLst/>
          </a:prstGeom>
        </p:spPr>
      </p:pic>
      <p:sp>
        <p:nvSpPr>
          <p:cNvPr id="8" name="Text 5"/>
          <p:cNvSpPr/>
          <p:nvPr/>
        </p:nvSpPr>
        <p:spPr>
          <a:xfrm>
            <a:off x="822960" y="2926080"/>
            <a:ext cx="2971800" cy="777240"/>
          </a:xfrm>
          <a:prstGeom prst="rect">
            <a:avLst/>
          </a:prstGeom>
          <a:noFill/>
          <a:ln/>
        </p:spPr>
        <p:txBody>
          <a:bodyPr wrap="square" lIns="0" tIns="0" rIns="0" bIns="0" rtlCol="0" anchor="ctr"/>
          <a:lstStyle/>
          <a:p>
            <a:pPr indent="0" marL="0">
              <a:lnSpc>
                <a:spcPts val="1900"/>
              </a:lnSpc>
              <a:buNone/>
            </a:pPr>
            <a:r>
              <a:rPr lang="en-US" sz="1600" b="1" dirty="0">
                <a:solidFill>
                  <a:srgbClr val="1B2A4A"/>
                </a:solidFill>
                <a:latin typeface="Cambria" pitchFamily="34" charset="0"/>
                <a:ea typeface="Cambria" pitchFamily="34" charset="-122"/>
                <a:cs typeface="Cambria" pitchFamily="34" charset="-120"/>
              </a:rPr>
              <a:t>Contaminación de software</a:t>
            </a:r>
            <a:endParaRPr lang="en-US" sz="1600" dirty="0"/>
          </a:p>
        </p:txBody>
      </p:sp>
      <p:sp>
        <p:nvSpPr>
          <p:cNvPr id="9" name="Text 6"/>
          <p:cNvSpPr/>
          <p:nvPr/>
        </p:nvSpPr>
        <p:spPr>
          <a:xfrm>
            <a:off x="822960" y="3749040"/>
            <a:ext cx="2971800" cy="2194560"/>
          </a:xfrm>
          <a:prstGeom prst="rect">
            <a:avLst/>
          </a:prstGeom>
          <a:noFill/>
          <a:ln/>
        </p:spPr>
        <p:txBody>
          <a:bodyPr wrap="square" lIns="0" tIns="0" rIns="0" bIns="0" rtlCol="0" anchor="ctr"/>
          <a:lstStyle/>
          <a:p>
            <a:pPr indent="0" marL="0">
              <a:lnSpc>
                <a:spcPts val="1700"/>
              </a:lnSpc>
              <a:buNone/>
            </a:pPr>
            <a:r>
              <a:rPr lang="en-US" sz="1250" dirty="0">
                <a:solidFill>
                  <a:srgbClr val="5B6B84"/>
                </a:solidFill>
                <a:latin typeface="Calibri" pitchFamily="34" charset="0"/>
                <a:ea typeface="Calibri" pitchFamily="34" charset="-122"/>
                <a:cs typeface="Calibri" pitchFamily="34" charset="-120"/>
              </a:rPr>
              <a:t>Integrar código memorizado bajo licencia GPL en software propietario o investigación expone a las organizaciones a litigios legales por ruptura de licencias.</a:t>
            </a:r>
            <a:endParaRPr lang="en-US" sz="1250" dirty="0"/>
          </a:p>
        </p:txBody>
      </p:sp>
      <p:sp>
        <p:nvSpPr>
          <p:cNvPr id="10" name="Shape 7"/>
          <p:cNvSpPr/>
          <p:nvPr/>
        </p:nvSpPr>
        <p:spPr>
          <a:xfrm>
            <a:off x="4343400" y="1691640"/>
            <a:ext cx="3520440" cy="4480560"/>
          </a:xfrm>
          <a:prstGeom prst="roundRect">
            <a:avLst>
              <a:gd name="adj" fmla="val 2078"/>
            </a:avLst>
          </a:prstGeom>
          <a:solidFill>
            <a:srgbClr val="1B2A4A"/>
          </a:solidFill>
          <a:ln/>
        </p:spPr>
      </p:sp>
      <p:sp>
        <p:nvSpPr>
          <p:cNvPr id="11" name="Shape 8"/>
          <p:cNvSpPr/>
          <p:nvPr/>
        </p:nvSpPr>
        <p:spPr>
          <a:xfrm>
            <a:off x="4663440" y="2011680"/>
            <a:ext cx="731520" cy="731520"/>
          </a:xfrm>
          <a:prstGeom prst="ellipse">
            <a:avLst/>
          </a:prstGeom>
          <a:solidFill>
            <a:srgbClr val="E63946"/>
          </a:solidFill>
          <a:ln/>
        </p:spPr>
      </p:sp>
      <p:pic>
        <p:nvPicPr>
          <p:cNvPr id="12" name="Image 1" descr="/home/claude/pptx_work/icon_money_white.png">    </p:cNvPr>
          <p:cNvPicPr>
            <a:picLocks noChangeAspect="1"/>
          </p:cNvPicPr>
          <p:nvPr/>
        </p:nvPicPr>
        <p:blipFill>
          <a:blip r:embed="rId2"/>
          <a:stretch>
            <a:fillRect/>
          </a:stretch>
        </p:blipFill>
        <p:spPr>
          <a:xfrm>
            <a:off x="4868266" y="2216506"/>
            <a:ext cx="321869" cy="321869"/>
          </a:xfrm>
          <a:prstGeom prst="rect">
            <a:avLst/>
          </a:prstGeom>
        </p:spPr>
      </p:pic>
      <p:sp>
        <p:nvSpPr>
          <p:cNvPr id="13" name="Text 9"/>
          <p:cNvSpPr/>
          <p:nvPr/>
        </p:nvSpPr>
        <p:spPr>
          <a:xfrm>
            <a:off x="4617720" y="2926080"/>
            <a:ext cx="2971800" cy="777240"/>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Apropiación injusta del Commons</a:t>
            </a:r>
            <a:endParaRPr lang="en-US" sz="1600" dirty="0"/>
          </a:p>
        </p:txBody>
      </p:sp>
      <p:sp>
        <p:nvSpPr>
          <p:cNvPr id="14" name="Text 10"/>
          <p:cNvSpPr/>
          <p:nvPr/>
        </p:nvSpPr>
        <p:spPr>
          <a:xfrm>
            <a:off x="4617720" y="3749040"/>
            <a:ext cx="2971800" cy="2194560"/>
          </a:xfrm>
          <a:prstGeom prst="rect">
            <a:avLst/>
          </a:prstGeom>
          <a:noFill/>
          <a:ln/>
        </p:spPr>
        <p:txBody>
          <a:bodyPr wrap="square" lIns="0" tIns="0" rIns="0" bIns="0" rtlCol="0" anchor="ctr"/>
          <a:lstStyle/>
          <a:p>
            <a:pPr indent="0" marL="0">
              <a:lnSpc>
                <a:spcPts val="1700"/>
              </a:lnSpc>
              <a:buNone/>
            </a:pPr>
            <a:r>
              <a:rPr lang="en-US" sz="1250" dirty="0">
                <a:solidFill>
                  <a:srgbClr val="E8EEF7"/>
                </a:solidFill>
                <a:latin typeface="Calibri" pitchFamily="34" charset="0"/>
                <a:ea typeface="Calibri" pitchFamily="34" charset="-122"/>
                <a:cs typeface="Calibri" pitchFamily="34" charset="-120"/>
              </a:rPr>
              <a:t>Comercialización de un modelo de suscripción pagada ($10–$20 USD/mes) usando como insumo el trabajo no remunerado de millones de desarrolladores de software libre.</a:t>
            </a:r>
            <a:endParaRPr lang="en-US" sz="1250" dirty="0"/>
          </a:p>
        </p:txBody>
      </p:sp>
      <p:sp>
        <p:nvSpPr>
          <p:cNvPr id="15" name="Shape 11"/>
          <p:cNvSpPr/>
          <p:nvPr/>
        </p:nvSpPr>
        <p:spPr>
          <a:xfrm>
            <a:off x="8138160" y="1691640"/>
            <a:ext cx="3520440" cy="4480560"/>
          </a:xfrm>
          <a:prstGeom prst="roundRect">
            <a:avLst>
              <a:gd name="adj" fmla="val 2078"/>
            </a:avLst>
          </a:prstGeom>
          <a:solidFill>
            <a:srgbClr val="F7F9FC"/>
          </a:solidFill>
          <a:ln w="12700">
            <a:solidFill>
              <a:srgbClr val="DDE4EE"/>
            </a:solidFill>
            <a:prstDash val="solid"/>
          </a:ln>
        </p:spPr>
      </p:sp>
      <p:sp>
        <p:nvSpPr>
          <p:cNvPr id="16" name="Shape 12"/>
          <p:cNvSpPr/>
          <p:nvPr/>
        </p:nvSpPr>
        <p:spPr>
          <a:xfrm>
            <a:off x="8458200" y="2011680"/>
            <a:ext cx="731520" cy="731520"/>
          </a:xfrm>
          <a:prstGeom prst="ellipse">
            <a:avLst/>
          </a:prstGeom>
          <a:solidFill>
            <a:srgbClr val="1B2A4A"/>
          </a:solidFill>
          <a:ln/>
        </p:spPr>
      </p:sp>
      <p:pic>
        <p:nvPicPr>
          <p:cNvPr id="17" name="Image 2" descr="/home/claude/pptx_work/icon_bug_white.png">    </p:cNvPr>
          <p:cNvPicPr>
            <a:picLocks noChangeAspect="1"/>
          </p:cNvPicPr>
          <p:nvPr/>
        </p:nvPicPr>
        <p:blipFill>
          <a:blip r:embed="rId3"/>
          <a:stretch>
            <a:fillRect/>
          </a:stretch>
        </p:blipFill>
        <p:spPr>
          <a:xfrm>
            <a:off x="8663026" y="2216506"/>
            <a:ext cx="321869" cy="321869"/>
          </a:xfrm>
          <a:prstGeom prst="rect">
            <a:avLst/>
          </a:prstGeom>
        </p:spPr>
      </p:pic>
      <p:sp>
        <p:nvSpPr>
          <p:cNvPr id="18" name="Text 13"/>
          <p:cNvSpPr/>
          <p:nvPr/>
        </p:nvSpPr>
        <p:spPr>
          <a:xfrm>
            <a:off x="8412480" y="2926080"/>
            <a:ext cx="2971800" cy="777240"/>
          </a:xfrm>
          <a:prstGeom prst="rect">
            <a:avLst/>
          </a:prstGeom>
          <a:noFill/>
          <a:ln/>
        </p:spPr>
        <p:txBody>
          <a:bodyPr wrap="square" lIns="0" tIns="0" rIns="0" bIns="0" rtlCol="0" anchor="ctr"/>
          <a:lstStyle/>
          <a:p>
            <a:pPr indent="0" marL="0">
              <a:lnSpc>
                <a:spcPts val="1900"/>
              </a:lnSpc>
              <a:buNone/>
            </a:pPr>
            <a:r>
              <a:rPr lang="en-US" sz="1600" b="1" dirty="0">
                <a:solidFill>
                  <a:srgbClr val="1B2A4A"/>
                </a:solidFill>
                <a:latin typeface="Cambria" pitchFamily="34" charset="0"/>
                <a:ea typeface="Cambria" pitchFamily="34" charset="-122"/>
                <a:cs typeface="Cambria" pitchFamily="34" charset="-120"/>
              </a:rPr>
              <a:t>Riesgos de seguridad (CVEs)</a:t>
            </a:r>
            <a:endParaRPr lang="en-US" sz="1600" dirty="0"/>
          </a:p>
        </p:txBody>
      </p:sp>
      <p:sp>
        <p:nvSpPr>
          <p:cNvPr id="19" name="Text 14"/>
          <p:cNvSpPr/>
          <p:nvPr/>
        </p:nvSpPr>
        <p:spPr>
          <a:xfrm>
            <a:off x="8412480" y="3749040"/>
            <a:ext cx="2971800" cy="2194560"/>
          </a:xfrm>
          <a:prstGeom prst="rect">
            <a:avLst/>
          </a:prstGeom>
          <a:noFill/>
          <a:ln/>
        </p:spPr>
        <p:txBody>
          <a:bodyPr wrap="square" lIns="0" tIns="0" rIns="0" bIns="0" rtlCol="0" anchor="ctr"/>
          <a:lstStyle/>
          <a:p>
            <a:pPr indent="0" marL="0">
              <a:lnSpc>
                <a:spcPts val="1700"/>
              </a:lnSpc>
              <a:buNone/>
            </a:pPr>
            <a:r>
              <a:rPr lang="en-US" sz="1250" dirty="0">
                <a:solidFill>
                  <a:srgbClr val="5B6B84"/>
                </a:solidFill>
                <a:latin typeface="Calibri" pitchFamily="34" charset="0"/>
                <a:ea typeface="Calibri" pitchFamily="34" charset="-122"/>
                <a:cs typeface="Calibri" pitchFamily="34" charset="-120"/>
              </a:rPr>
              <a:t>El modelo replica fragmentos con vulnerabilidades conocidas o parches descontinuados, reinsertándolos en entornos de producción actuales.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8A99B3"/>
                </a:solidFill>
                <a:latin typeface="Calibri" pitchFamily="34" charset="0"/>
                <a:ea typeface="Calibri" pitchFamily="34" charset="-122"/>
                <a:cs typeface="Calibri" pitchFamily="34" charset="-120"/>
              </a:rPr>
              <a:t>06</a:t>
            </a:r>
            <a:endParaRPr lang="en-US" sz="1000" dirty="0"/>
          </a:p>
        </p:txBody>
      </p:sp>
      <p:sp>
        <p:nvSpPr>
          <p:cNvPr id="3" name="Text 1"/>
          <p:cNvSpPr/>
          <p:nvPr/>
        </p:nvSpPr>
        <p:spPr>
          <a:xfrm>
            <a:off x="548640" y="411480"/>
            <a:ext cx="914400" cy="457200"/>
          </a:xfrm>
          <a:prstGeom prst="rect">
            <a:avLst/>
          </a:prstGeom>
          <a:noFill/>
          <a:ln/>
        </p:spPr>
        <p:txBody>
          <a:bodyPr wrap="square" lIns="0" tIns="0" rIns="0" bIns="0" rtlCol="0" anchor="ctr"/>
          <a:lstStyle/>
          <a:p>
            <a:pPr indent="0" marL="0">
              <a:buNone/>
            </a:pPr>
            <a:r>
              <a:rPr lang="en-US" sz="2000" b="1" dirty="0">
                <a:solidFill>
                  <a:srgbClr val="E63946"/>
                </a:solidFill>
                <a:latin typeface="Cambria" pitchFamily="34" charset="0"/>
                <a:ea typeface="Cambria" pitchFamily="34" charset="-122"/>
                <a:cs typeface="Cambria" pitchFamily="34" charset="-120"/>
              </a:rPr>
              <a:t>05</a:t>
            </a:r>
            <a:endParaRPr lang="en-US" sz="2000" dirty="0"/>
          </a:p>
        </p:txBody>
      </p:sp>
      <p:sp>
        <p:nvSpPr>
          <p:cNvPr id="4" name="Text 2"/>
          <p:cNvSpPr/>
          <p:nvPr/>
        </p:nvSpPr>
        <p:spPr>
          <a:xfrm>
            <a:off x="548640" y="777240"/>
            <a:ext cx="10058400" cy="640080"/>
          </a:xfrm>
          <a:prstGeom prst="rect">
            <a:avLst/>
          </a:prstGeom>
          <a:noFill/>
          <a:ln/>
        </p:spPr>
        <p:txBody>
          <a:bodyPr wrap="square" lIns="0" tIns="0" rIns="0" bIns="0"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Solución bajo Buenas Prácticas Científicas</a:t>
            </a:r>
            <a:endParaRPr lang="en-US" sz="2800" dirty="0"/>
          </a:p>
        </p:txBody>
      </p:sp>
      <p:sp>
        <p:nvSpPr>
          <p:cNvPr id="5" name="Text 3"/>
          <p:cNvSpPr/>
          <p:nvPr/>
        </p:nvSpPr>
        <p:spPr>
          <a:xfrm>
            <a:off x="548640" y="1417320"/>
            <a:ext cx="10607040" cy="365760"/>
          </a:xfrm>
          <a:prstGeom prst="rect">
            <a:avLst/>
          </a:prstGeom>
          <a:noFill/>
          <a:ln/>
        </p:spPr>
        <p:txBody>
          <a:bodyPr wrap="square" lIns="0" tIns="0" rIns="0" bIns="0" rtlCol="0" anchor="ctr"/>
          <a:lstStyle/>
          <a:p>
            <a:pPr indent="0" marL="0">
              <a:buNone/>
            </a:pPr>
            <a:r>
              <a:rPr lang="en-US" sz="1300" dirty="0">
                <a:solidFill>
                  <a:srgbClr val="5B6B84"/>
                </a:solidFill>
                <a:latin typeface="Calibri" pitchFamily="34" charset="0"/>
                <a:ea typeface="Calibri" pitchFamily="34" charset="-122"/>
                <a:cs typeface="Calibri" pitchFamily="34" charset="-120"/>
              </a:rPr>
              <a:t>Un enfoque de tres etapas para prevenir la reincidencia del plagio algorítmico.</a:t>
            </a:r>
            <a:endParaRPr lang="en-US" sz="1300" dirty="0"/>
          </a:p>
        </p:txBody>
      </p:sp>
      <p:sp>
        <p:nvSpPr>
          <p:cNvPr id="6" name="Shape 4"/>
          <p:cNvSpPr/>
          <p:nvPr/>
        </p:nvSpPr>
        <p:spPr>
          <a:xfrm>
            <a:off x="548640" y="2057400"/>
            <a:ext cx="10881360" cy="1234440"/>
          </a:xfrm>
          <a:prstGeom prst="roundRect">
            <a:avLst>
              <a:gd name="adj" fmla="val 5926"/>
            </a:avLst>
          </a:prstGeom>
          <a:solidFill>
            <a:srgbClr val="F7F9FC"/>
          </a:solidFill>
          <a:ln w="12700">
            <a:solidFill>
              <a:srgbClr val="DDE4EE"/>
            </a:solidFill>
            <a:prstDash val="solid"/>
          </a:ln>
        </p:spPr>
      </p:sp>
      <p:sp>
        <p:nvSpPr>
          <p:cNvPr id="7" name="Shape 5"/>
          <p:cNvSpPr/>
          <p:nvPr/>
        </p:nvSpPr>
        <p:spPr>
          <a:xfrm>
            <a:off x="777240" y="2276856"/>
            <a:ext cx="548640" cy="548640"/>
          </a:xfrm>
          <a:prstGeom prst="ellipse">
            <a:avLst/>
          </a:prstGeom>
          <a:solidFill>
            <a:srgbClr val="1B2A4A"/>
          </a:solidFill>
          <a:ln/>
        </p:spPr>
      </p:sp>
      <p:sp>
        <p:nvSpPr>
          <p:cNvPr id="8" name="Text 6"/>
          <p:cNvSpPr/>
          <p:nvPr/>
        </p:nvSpPr>
        <p:spPr>
          <a:xfrm>
            <a:off x="777240" y="227685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Shape 7"/>
          <p:cNvSpPr/>
          <p:nvPr/>
        </p:nvSpPr>
        <p:spPr>
          <a:xfrm>
            <a:off x="1554480" y="2231136"/>
            <a:ext cx="640080" cy="640080"/>
          </a:xfrm>
          <a:prstGeom prst="ellipse">
            <a:avLst/>
          </a:prstGeom>
          <a:solidFill>
            <a:srgbClr val="FDEAEC"/>
          </a:solidFill>
          <a:ln/>
        </p:spPr>
      </p:sp>
      <p:pic>
        <p:nvPicPr>
          <p:cNvPr id="10" name="Image 0" descr="/home/claude/pptx_work/icon_database_accent.png">    </p:cNvPr>
          <p:cNvPicPr>
            <a:picLocks noChangeAspect="1"/>
          </p:cNvPicPr>
          <p:nvPr/>
        </p:nvPicPr>
        <p:blipFill>
          <a:blip r:embed="rId1"/>
          <a:stretch>
            <a:fillRect/>
          </a:stretch>
        </p:blipFill>
        <p:spPr>
          <a:xfrm>
            <a:off x="1733702" y="2410358"/>
            <a:ext cx="281635" cy="281635"/>
          </a:xfrm>
          <a:prstGeom prst="rect">
            <a:avLst/>
          </a:prstGeom>
        </p:spPr>
      </p:pic>
      <p:sp>
        <p:nvSpPr>
          <p:cNvPr id="11" name="Text 8"/>
          <p:cNvSpPr/>
          <p:nvPr/>
        </p:nvSpPr>
        <p:spPr>
          <a:xfrm>
            <a:off x="2423160" y="2167128"/>
            <a:ext cx="8778240" cy="365760"/>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Trazabilidad y filtrado del Data Pipeline</a:t>
            </a:r>
            <a:endParaRPr lang="en-US" sz="1550" dirty="0"/>
          </a:p>
        </p:txBody>
      </p:sp>
      <p:sp>
        <p:nvSpPr>
          <p:cNvPr id="12" name="Text 9"/>
          <p:cNvSpPr/>
          <p:nvPr/>
        </p:nvSpPr>
        <p:spPr>
          <a:xfrm>
            <a:off x="2423160" y="2514600"/>
            <a:ext cx="8778240" cy="685800"/>
          </a:xfrm>
          <a:prstGeom prst="rect">
            <a:avLst/>
          </a:prstGeom>
          <a:noFill/>
          <a:ln/>
        </p:spPr>
        <p:txBody>
          <a:bodyPr wrap="square" lIns="0" tIns="0" rIns="0" bIns="0" rtlCol="0" anchor="ctr"/>
          <a:lstStyle/>
          <a:p>
            <a:pPr indent="0" marL="0">
              <a:lnSpc>
                <a:spcPts val="1600"/>
              </a:lnSpc>
              <a:buNone/>
            </a:pPr>
            <a:r>
              <a:rPr lang="en-US" sz="1250" dirty="0">
                <a:solidFill>
                  <a:srgbClr val="5B6B84"/>
                </a:solidFill>
                <a:latin typeface="Calibri" pitchFamily="34" charset="0"/>
                <a:ea typeface="Calibri" pitchFamily="34" charset="-122"/>
                <a:cs typeface="Calibri" pitchFamily="34" charset="-120"/>
              </a:rPr>
              <a:t>Exclusión automatizada de código con licencias restrictivas (GPL/AGPL) del dataset de entrenamiento y retención de metadatos mediante vector embeddings.</a:t>
            </a:r>
            <a:endParaRPr lang="en-US" sz="1250" dirty="0"/>
          </a:p>
        </p:txBody>
      </p:sp>
      <p:sp>
        <p:nvSpPr>
          <p:cNvPr id="13" name="Shape 10"/>
          <p:cNvSpPr/>
          <p:nvPr/>
        </p:nvSpPr>
        <p:spPr>
          <a:xfrm>
            <a:off x="548640" y="3474720"/>
            <a:ext cx="10881360" cy="1234440"/>
          </a:xfrm>
          <a:prstGeom prst="roundRect">
            <a:avLst>
              <a:gd name="adj" fmla="val 5926"/>
            </a:avLst>
          </a:prstGeom>
          <a:solidFill>
            <a:srgbClr val="F7F9FC"/>
          </a:solidFill>
          <a:ln w="12700">
            <a:solidFill>
              <a:srgbClr val="DDE4EE"/>
            </a:solidFill>
            <a:prstDash val="solid"/>
          </a:ln>
        </p:spPr>
      </p:sp>
      <p:sp>
        <p:nvSpPr>
          <p:cNvPr id="14" name="Shape 11"/>
          <p:cNvSpPr/>
          <p:nvPr/>
        </p:nvSpPr>
        <p:spPr>
          <a:xfrm>
            <a:off x="777240" y="3694176"/>
            <a:ext cx="548640" cy="548640"/>
          </a:xfrm>
          <a:prstGeom prst="ellipse">
            <a:avLst/>
          </a:prstGeom>
          <a:solidFill>
            <a:srgbClr val="1B2A4A"/>
          </a:solidFill>
          <a:ln/>
        </p:spPr>
      </p:sp>
      <p:sp>
        <p:nvSpPr>
          <p:cNvPr id="15" name="Text 12"/>
          <p:cNvSpPr/>
          <p:nvPr/>
        </p:nvSpPr>
        <p:spPr>
          <a:xfrm>
            <a:off x="777240" y="369417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Shape 13"/>
          <p:cNvSpPr/>
          <p:nvPr/>
        </p:nvSpPr>
        <p:spPr>
          <a:xfrm>
            <a:off x="1554480" y="3648456"/>
            <a:ext cx="640080" cy="640080"/>
          </a:xfrm>
          <a:prstGeom prst="ellipse">
            <a:avLst/>
          </a:prstGeom>
          <a:solidFill>
            <a:srgbClr val="FDEAEC"/>
          </a:solidFill>
          <a:ln/>
        </p:spPr>
      </p:sp>
      <p:pic>
        <p:nvPicPr>
          <p:cNvPr id="17" name="Image 1" descr="/home/claude/pptx_work/icon_shield_accent.png">    </p:cNvPr>
          <p:cNvPicPr>
            <a:picLocks noChangeAspect="1"/>
          </p:cNvPicPr>
          <p:nvPr/>
        </p:nvPicPr>
        <p:blipFill>
          <a:blip r:embed="rId2"/>
          <a:stretch>
            <a:fillRect/>
          </a:stretch>
        </p:blipFill>
        <p:spPr>
          <a:xfrm>
            <a:off x="1733702" y="3827678"/>
            <a:ext cx="281635" cy="281635"/>
          </a:xfrm>
          <a:prstGeom prst="rect">
            <a:avLst/>
          </a:prstGeom>
        </p:spPr>
      </p:pic>
      <p:sp>
        <p:nvSpPr>
          <p:cNvPr id="18" name="Text 14"/>
          <p:cNvSpPr/>
          <p:nvPr/>
        </p:nvSpPr>
        <p:spPr>
          <a:xfrm>
            <a:off x="2423160" y="3584448"/>
            <a:ext cx="8778240" cy="365760"/>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Verificación anti-plagio en inferencia</a:t>
            </a:r>
            <a:endParaRPr lang="en-US" sz="1550" dirty="0"/>
          </a:p>
        </p:txBody>
      </p:sp>
      <p:sp>
        <p:nvSpPr>
          <p:cNvPr id="19" name="Text 15"/>
          <p:cNvSpPr/>
          <p:nvPr/>
        </p:nvSpPr>
        <p:spPr>
          <a:xfrm>
            <a:off x="2423160" y="3931920"/>
            <a:ext cx="8778240" cy="685800"/>
          </a:xfrm>
          <a:prstGeom prst="rect">
            <a:avLst/>
          </a:prstGeom>
          <a:noFill/>
          <a:ln/>
        </p:spPr>
        <p:txBody>
          <a:bodyPr wrap="square" lIns="0" tIns="0" rIns="0" bIns="0" rtlCol="0" anchor="ctr"/>
          <a:lstStyle/>
          <a:p>
            <a:pPr indent="0" marL="0">
              <a:lnSpc>
                <a:spcPts val="1600"/>
              </a:lnSpc>
              <a:buNone/>
            </a:pPr>
            <a:r>
              <a:rPr lang="en-US" sz="1250" dirty="0">
                <a:solidFill>
                  <a:srgbClr val="5B6B84"/>
                </a:solidFill>
                <a:latin typeface="Calibri" pitchFamily="34" charset="0"/>
                <a:ea typeface="Calibri" pitchFamily="34" charset="-122"/>
                <a:cs typeface="Calibri" pitchFamily="34" charset="-120"/>
              </a:rPr>
              <a:t>Verificación por similitud en tiempo real (MinHash / Levenshtein, umbral θ &gt; 0.80) para bloquear o citar automáticamente la fuente original.</a:t>
            </a:r>
            <a:endParaRPr lang="en-US" sz="1250" dirty="0"/>
          </a:p>
        </p:txBody>
      </p:sp>
      <p:sp>
        <p:nvSpPr>
          <p:cNvPr id="20" name="Shape 16"/>
          <p:cNvSpPr/>
          <p:nvPr/>
        </p:nvSpPr>
        <p:spPr>
          <a:xfrm>
            <a:off x="548640" y="4892040"/>
            <a:ext cx="10881360" cy="1234440"/>
          </a:xfrm>
          <a:prstGeom prst="roundRect">
            <a:avLst>
              <a:gd name="adj" fmla="val 5926"/>
            </a:avLst>
          </a:prstGeom>
          <a:solidFill>
            <a:srgbClr val="F7F9FC"/>
          </a:solidFill>
          <a:ln w="12700">
            <a:solidFill>
              <a:srgbClr val="DDE4EE"/>
            </a:solidFill>
            <a:prstDash val="solid"/>
          </a:ln>
        </p:spPr>
      </p:sp>
      <p:sp>
        <p:nvSpPr>
          <p:cNvPr id="21" name="Shape 17"/>
          <p:cNvSpPr/>
          <p:nvPr/>
        </p:nvSpPr>
        <p:spPr>
          <a:xfrm>
            <a:off x="777240" y="5111496"/>
            <a:ext cx="548640" cy="548640"/>
          </a:xfrm>
          <a:prstGeom prst="ellipse">
            <a:avLst/>
          </a:prstGeom>
          <a:solidFill>
            <a:srgbClr val="1B2A4A"/>
          </a:solidFill>
          <a:ln/>
        </p:spPr>
      </p:sp>
      <p:sp>
        <p:nvSpPr>
          <p:cNvPr id="22" name="Text 18"/>
          <p:cNvSpPr/>
          <p:nvPr/>
        </p:nvSpPr>
        <p:spPr>
          <a:xfrm>
            <a:off x="777240" y="511149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3" name="Shape 19"/>
          <p:cNvSpPr/>
          <p:nvPr/>
        </p:nvSpPr>
        <p:spPr>
          <a:xfrm>
            <a:off x="1554480" y="5065776"/>
            <a:ext cx="640080" cy="640080"/>
          </a:xfrm>
          <a:prstGeom prst="ellipse">
            <a:avLst/>
          </a:prstGeom>
          <a:solidFill>
            <a:srgbClr val="FDEAEC"/>
          </a:solidFill>
          <a:ln/>
        </p:spPr>
      </p:sp>
      <p:pic>
        <p:nvPicPr>
          <p:cNvPr id="24" name="Image 2" descr="/home/claude/pptx_work/icon_check_accent.png">    </p:cNvPr>
          <p:cNvPicPr>
            <a:picLocks noChangeAspect="1"/>
          </p:cNvPicPr>
          <p:nvPr/>
        </p:nvPicPr>
        <p:blipFill>
          <a:blip r:embed="rId3"/>
          <a:stretch>
            <a:fillRect/>
          </a:stretch>
        </p:blipFill>
        <p:spPr>
          <a:xfrm>
            <a:off x="1733702" y="5244998"/>
            <a:ext cx="281635" cy="281635"/>
          </a:xfrm>
          <a:prstGeom prst="rect">
            <a:avLst/>
          </a:prstGeom>
        </p:spPr>
      </p:pic>
      <p:sp>
        <p:nvSpPr>
          <p:cNvPr id="25" name="Text 20"/>
          <p:cNvSpPr/>
          <p:nvPr/>
        </p:nvSpPr>
        <p:spPr>
          <a:xfrm>
            <a:off x="2423160" y="5001768"/>
            <a:ext cx="8778240" cy="365760"/>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Modelos éticos y open benchmarks</a:t>
            </a:r>
            <a:endParaRPr lang="en-US" sz="1550" dirty="0"/>
          </a:p>
        </p:txBody>
      </p:sp>
      <p:sp>
        <p:nvSpPr>
          <p:cNvPr id="26" name="Text 21"/>
          <p:cNvSpPr/>
          <p:nvPr/>
        </p:nvSpPr>
        <p:spPr>
          <a:xfrm>
            <a:off x="2423160" y="5349240"/>
            <a:ext cx="8778240" cy="685800"/>
          </a:xfrm>
          <a:prstGeom prst="rect">
            <a:avLst/>
          </a:prstGeom>
          <a:noFill/>
          <a:ln/>
        </p:spPr>
        <p:txBody>
          <a:bodyPr wrap="square" lIns="0" tIns="0" rIns="0" bIns="0" rtlCol="0" anchor="ctr"/>
          <a:lstStyle/>
          <a:p>
            <a:pPr indent="0" marL="0">
              <a:lnSpc>
                <a:spcPts val="1600"/>
              </a:lnSpc>
              <a:buNone/>
            </a:pPr>
            <a:r>
              <a:rPr lang="en-US" sz="1250" dirty="0">
                <a:solidFill>
                  <a:srgbClr val="5B6B84"/>
                </a:solidFill>
                <a:latin typeface="Calibri" pitchFamily="34" charset="0"/>
                <a:ea typeface="Calibri" pitchFamily="34" charset="-122"/>
                <a:cs typeface="Calibri" pitchFamily="34" charset="-120"/>
              </a:rPr>
              <a:t>Adopción de la norma de publicación Data Sheets for Datasets y mecanismos de Opt-In para los autores del código fuente.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sp>
      <p:sp>
        <p:nvSpPr>
          <p:cNvPr id="3" name="Shape 1"/>
          <p:cNvSpPr/>
          <p:nvPr/>
        </p:nvSpPr>
        <p:spPr>
          <a:xfrm>
            <a:off x="0" y="0"/>
            <a:ext cx="12188952" cy="822960"/>
          </a:xfrm>
          <a:prstGeom prst="rect">
            <a:avLst/>
          </a:prstGeom>
          <a:solidFill>
            <a:srgbClr val="16223C"/>
          </a:solidFill>
          <a:ln/>
        </p:spPr>
      </p:sp>
      <p:sp>
        <p:nvSpPr>
          <p:cNvPr id="4" name="Text 2"/>
          <p:cNvSpPr/>
          <p:nvPr/>
        </p:nvSpPr>
        <p:spPr>
          <a:xfrm>
            <a:off x="822960" y="1051560"/>
            <a:ext cx="7315200" cy="365760"/>
          </a:xfrm>
          <a:prstGeom prst="rect">
            <a:avLst/>
          </a:prstGeom>
          <a:noFill/>
          <a:ln/>
        </p:spPr>
        <p:txBody>
          <a:bodyPr wrap="square" lIns="0" tIns="0" rIns="0" bIns="0" rtlCol="0" anchor="ctr"/>
          <a:lstStyle/>
          <a:p>
            <a:pPr indent="0" marL="0">
              <a:buNone/>
            </a:pPr>
            <a:r>
              <a:rPr lang="en-US" sz="1300" b="1" spc="300" kern="0" dirty="0">
                <a:solidFill>
                  <a:srgbClr val="E63946"/>
                </a:solidFill>
                <a:latin typeface="Calibri" pitchFamily="34" charset="0"/>
                <a:ea typeface="Calibri" pitchFamily="34" charset="-122"/>
                <a:cs typeface="Calibri" pitchFamily="34" charset="-120"/>
              </a:rPr>
              <a:t>CONCLUSIÓN DE LA AUDITORÍA</a:t>
            </a:r>
            <a:endParaRPr lang="en-US" sz="1300" dirty="0"/>
          </a:p>
        </p:txBody>
      </p:sp>
      <p:sp>
        <p:nvSpPr>
          <p:cNvPr id="5" name="Text 3"/>
          <p:cNvSpPr/>
          <p:nvPr/>
        </p:nvSpPr>
        <p:spPr>
          <a:xfrm>
            <a:off x="822960" y="1463040"/>
            <a:ext cx="9601200" cy="1005840"/>
          </a:xfrm>
          <a:prstGeom prst="rect">
            <a:avLst/>
          </a:prstGeom>
          <a:noFill/>
          <a:ln/>
        </p:spPr>
        <p:txBody>
          <a:bodyPr wrap="square" lIns="0" tIns="0" rIns="0" bIns="0" rtlCol="0" anchor="ctr"/>
          <a:lstStyle/>
          <a:p>
            <a:pPr indent="0" marL="0">
              <a:lnSpc>
                <a:spcPts val="3400"/>
              </a:lnSpc>
              <a:buNone/>
            </a:pPr>
            <a:r>
              <a:rPr lang="en-US" sz="3000" b="1" dirty="0">
                <a:solidFill>
                  <a:srgbClr val="FFFFFF"/>
                </a:solidFill>
                <a:latin typeface="Cambria" pitchFamily="34" charset="0"/>
                <a:ea typeface="Cambria" pitchFamily="34" charset="-122"/>
                <a:cs typeface="Cambria" pitchFamily="34" charset="-120"/>
              </a:rPr>
              <a:t>Integridad y trazabilidad, no velocidad a cualquier costo</a:t>
            </a:r>
            <a:endParaRPr lang="en-US" sz="3000" dirty="0"/>
          </a:p>
        </p:txBody>
      </p:sp>
      <p:sp>
        <p:nvSpPr>
          <p:cNvPr id="6" name="Text 4"/>
          <p:cNvSpPr/>
          <p:nvPr/>
        </p:nvSpPr>
        <p:spPr>
          <a:xfrm>
            <a:off x="822960" y="2606040"/>
            <a:ext cx="7863840" cy="1005840"/>
          </a:xfrm>
          <a:prstGeom prst="rect">
            <a:avLst/>
          </a:prstGeom>
          <a:noFill/>
          <a:ln/>
        </p:spPr>
        <p:txBody>
          <a:bodyPr wrap="square" lIns="0" tIns="0" rIns="0" bIns="0" rtlCol="0" anchor="ctr"/>
          <a:lstStyle/>
          <a:p>
            <a:pPr indent="0" marL="0">
              <a:lnSpc>
                <a:spcPts val="2000"/>
              </a:lnSpc>
              <a:buNone/>
            </a:pPr>
            <a:r>
              <a:rPr lang="en-US" sz="1400" i="1" dirty="0">
                <a:solidFill>
                  <a:srgbClr val="CADCFC"/>
                </a:solidFill>
                <a:latin typeface="Calibri" pitchFamily="34" charset="0"/>
                <a:ea typeface="Calibri" pitchFamily="34" charset="-122"/>
                <a:cs typeface="Calibri" pitchFamily="34" charset="-120"/>
              </a:rPr>
              <a:t>El caso GitHub Copilot / OpenAI Codex evidencia que la escala del entrenamiento no exime a los sistemas de IA del cumplimiento de licencias, atribución de autoría y responsabilidad legal frente al software libre.</a:t>
            </a:r>
            <a:endParaRPr lang="en-US" sz="1400" dirty="0"/>
          </a:p>
        </p:txBody>
      </p:sp>
      <p:sp>
        <p:nvSpPr>
          <p:cNvPr id="7" name="Shape 5"/>
          <p:cNvSpPr/>
          <p:nvPr/>
        </p:nvSpPr>
        <p:spPr>
          <a:xfrm>
            <a:off x="822960" y="3977640"/>
            <a:ext cx="502920" cy="502920"/>
          </a:xfrm>
          <a:prstGeom prst="ellipse">
            <a:avLst/>
          </a:prstGeom>
          <a:solidFill>
            <a:srgbClr val="273A63"/>
          </a:solidFill>
          <a:ln/>
        </p:spPr>
      </p:sp>
      <p:pic>
        <p:nvPicPr>
          <p:cNvPr id="8" name="Image 0" descr="/home/claude/pptx_work/icon_balance_white.png">    </p:cNvPr>
          <p:cNvPicPr>
            <a:picLocks noChangeAspect="1"/>
          </p:cNvPicPr>
          <p:nvPr/>
        </p:nvPicPr>
        <p:blipFill>
          <a:blip r:embed="rId1"/>
          <a:stretch>
            <a:fillRect/>
          </a:stretch>
        </p:blipFill>
        <p:spPr>
          <a:xfrm>
            <a:off x="963778" y="4118458"/>
            <a:ext cx="221285" cy="221285"/>
          </a:xfrm>
          <a:prstGeom prst="rect">
            <a:avLst/>
          </a:prstGeom>
        </p:spPr>
      </p:pic>
      <p:sp>
        <p:nvSpPr>
          <p:cNvPr id="9" name="Text 6"/>
          <p:cNvSpPr/>
          <p:nvPr/>
        </p:nvSpPr>
        <p:spPr>
          <a:xfrm>
            <a:off x="1508760" y="3977640"/>
            <a:ext cx="54864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Cumplimiento de licencias</a:t>
            </a:r>
            <a:endParaRPr lang="en-US" sz="1400" dirty="0"/>
          </a:p>
        </p:txBody>
      </p:sp>
      <p:sp>
        <p:nvSpPr>
          <p:cNvPr id="10" name="Shape 7"/>
          <p:cNvSpPr/>
          <p:nvPr/>
        </p:nvSpPr>
        <p:spPr>
          <a:xfrm>
            <a:off x="822960" y="4663440"/>
            <a:ext cx="502920" cy="502920"/>
          </a:xfrm>
          <a:prstGeom prst="ellipse">
            <a:avLst/>
          </a:prstGeom>
          <a:solidFill>
            <a:srgbClr val="273A63"/>
          </a:solidFill>
          <a:ln/>
        </p:spPr>
      </p:sp>
      <p:pic>
        <p:nvPicPr>
          <p:cNvPr id="11" name="Image 1" descr="/home/claude/pptx_work/icon_fingerprint_white.png">    </p:cNvPr>
          <p:cNvPicPr>
            <a:picLocks noChangeAspect="1"/>
          </p:cNvPicPr>
          <p:nvPr/>
        </p:nvPicPr>
        <p:blipFill>
          <a:blip r:embed="rId2"/>
          <a:stretch>
            <a:fillRect/>
          </a:stretch>
        </p:blipFill>
        <p:spPr>
          <a:xfrm>
            <a:off x="963778" y="4804258"/>
            <a:ext cx="221285" cy="221285"/>
          </a:xfrm>
          <a:prstGeom prst="rect">
            <a:avLst/>
          </a:prstGeom>
        </p:spPr>
      </p:pic>
      <p:sp>
        <p:nvSpPr>
          <p:cNvPr id="12" name="Text 8"/>
          <p:cNvSpPr/>
          <p:nvPr/>
        </p:nvSpPr>
        <p:spPr>
          <a:xfrm>
            <a:off x="1508760" y="4663440"/>
            <a:ext cx="54864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Atribución de autoría</a:t>
            </a:r>
            <a:endParaRPr lang="en-US" sz="1400" dirty="0"/>
          </a:p>
        </p:txBody>
      </p:sp>
      <p:sp>
        <p:nvSpPr>
          <p:cNvPr id="13" name="Shape 9"/>
          <p:cNvSpPr/>
          <p:nvPr/>
        </p:nvSpPr>
        <p:spPr>
          <a:xfrm>
            <a:off x="822960" y="5349240"/>
            <a:ext cx="502920" cy="502920"/>
          </a:xfrm>
          <a:prstGeom prst="ellipse">
            <a:avLst/>
          </a:prstGeom>
          <a:solidFill>
            <a:srgbClr val="273A63"/>
          </a:solidFill>
          <a:ln/>
        </p:spPr>
      </p:sp>
      <p:pic>
        <p:nvPicPr>
          <p:cNvPr id="14" name="Image 2" descr="/home/claude/pptx_work/icon_shield_white.png">    </p:cNvPr>
          <p:cNvPicPr>
            <a:picLocks noChangeAspect="1"/>
          </p:cNvPicPr>
          <p:nvPr/>
        </p:nvPicPr>
        <p:blipFill>
          <a:blip r:embed="rId3"/>
          <a:stretch>
            <a:fillRect/>
          </a:stretch>
        </p:blipFill>
        <p:spPr>
          <a:xfrm>
            <a:off x="963778" y="5490058"/>
            <a:ext cx="221285" cy="221285"/>
          </a:xfrm>
          <a:prstGeom prst="rect">
            <a:avLst/>
          </a:prstGeom>
        </p:spPr>
      </p:pic>
      <p:sp>
        <p:nvSpPr>
          <p:cNvPr id="15" name="Text 10"/>
          <p:cNvSpPr/>
          <p:nvPr/>
        </p:nvSpPr>
        <p:spPr>
          <a:xfrm>
            <a:off x="1508760" y="5349240"/>
            <a:ext cx="54864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Verificación anti-plagio</a:t>
            </a:r>
            <a:endParaRPr lang="en-US" sz="1400" dirty="0"/>
          </a:p>
        </p:txBody>
      </p:sp>
      <p:pic>
        <p:nvPicPr>
          <p:cNvPr id="16" name="Image 3" descr="/home/claude/pptx_work/icon_balance_accent.png">    </p:cNvPr>
          <p:cNvPicPr>
            <a:picLocks noChangeAspect="1"/>
          </p:cNvPicPr>
          <p:nvPr/>
        </p:nvPicPr>
        <p:blipFill>
          <a:blip r:embed="rId4"/>
          <a:stretch>
            <a:fillRect/>
          </a:stretch>
        </p:blipFill>
        <p:spPr>
          <a:xfrm>
            <a:off x="9692640" y="2834640"/>
            <a:ext cx="1828800" cy="1828800"/>
          </a:xfrm>
          <a:prstGeom prst="rect">
            <a:avLst/>
          </a:prstGeom>
        </p:spPr>
      </p:pic>
      <p:sp>
        <p:nvSpPr>
          <p:cNvPr id="17" name="Text 11"/>
          <p:cNvSpPr/>
          <p:nvPr/>
        </p:nvSpPr>
        <p:spPr>
          <a:xfrm>
            <a:off x="822960" y="6309360"/>
            <a:ext cx="9601200" cy="320040"/>
          </a:xfrm>
          <a:prstGeom prst="rect">
            <a:avLst/>
          </a:prstGeom>
          <a:noFill/>
          <a:ln/>
        </p:spPr>
        <p:txBody>
          <a:bodyPr wrap="square" lIns="0" tIns="0" rIns="0" bIns="0" rtlCol="0" anchor="ctr"/>
          <a:lstStyle/>
          <a:p>
            <a:pPr indent="0" marL="0">
              <a:buNone/>
            </a:pPr>
            <a:r>
              <a:rPr lang="en-US" sz="1050" dirty="0">
                <a:solidFill>
                  <a:srgbClr val="8A99B3"/>
                </a:solidFill>
                <a:latin typeface="Calibri" pitchFamily="34" charset="0"/>
                <a:ea typeface="Calibri" pitchFamily="34" charset="-122"/>
                <a:cs typeface="Calibri" pitchFamily="34" charset="-120"/>
              </a:rPr>
              <a:t>Auditoría Ética y Forense · GitHub Copilot y Licencias Open Source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2026-09-05T04:39:40Z</dcterms:created>
  <dcterms:modified xsi:type="dcterms:W3CDTF">2026-09-05T04:39:40Z</dcterms:modified>
</cp:coreProperties>
</file>